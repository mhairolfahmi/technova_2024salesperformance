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sldIdLst>
    <p:sldId id="256" r:id="rId2"/>
    <p:sldId id="257" r:id="rId3"/>
    <p:sldId id="271" r:id="rId4"/>
    <p:sldId id="278" r:id="rId5"/>
    <p:sldId id="273" r:id="rId6"/>
    <p:sldId id="274" r:id="rId7"/>
    <p:sldId id="275" r:id="rId8"/>
    <p:sldId id="281" r:id="rId9"/>
    <p:sldId id="279" r:id="rId10"/>
    <p:sldId id="280" r:id="rId11"/>
    <p:sldId id="284" r:id="rId12"/>
    <p:sldId id="283" r:id="rId13"/>
    <p:sldId id="285" r:id="rId14"/>
    <p:sldId id="286" r:id="rId15"/>
  </p:sldIdLst>
  <p:sldSz cx="18288000" cy="10287000"/>
  <p:notesSz cx="6858000" cy="9144000"/>
  <p:embeddedFontLst>
    <p:embeddedFont>
      <p:font typeface="League Spartan" panose="020B0604020202020204" charset="0"/>
      <p:regular r:id="rId17"/>
    </p:embeddedFont>
    <p:embeddedFont>
      <p:font typeface="Poppins" panose="00000500000000000000" pitchFamily="2" charset="0"/>
      <p:regular r:id="rId18"/>
    </p:embeddedFont>
    <p:embeddedFont>
      <p:font typeface="Roboto" panose="02000000000000000000" pitchFamily="2" charset="0"/>
      <p:regular r:id="rId19"/>
      <p:bold r:id="rId20"/>
      <p:italic r:id="rId21"/>
      <p:boldItalic r:id="rId22"/>
    </p:embeddedFont>
    <p:embeddedFont>
      <p:font typeface="Roboto Bold" panose="02000000000000000000" pitchFamily="2" charset="0"/>
      <p:regular r:id="rId23"/>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hammad Hairolfahmi Abd Rani" initials="MA" lastIdx="1" clrIdx="0">
    <p:extLst>
      <p:ext uri="{19B8F6BF-5375-455C-9EA6-DF929625EA0E}">
        <p15:presenceInfo xmlns:p15="http://schemas.microsoft.com/office/powerpoint/2012/main" userId="4f2207baa9aa56b1"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4AA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4" d="100"/>
          <a:sy n="54" d="100"/>
        </p:scale>
        <p:origin x="754" y="67"/>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MY"/>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2B01DB-6F59-46CE-8514-82A4D8C958F3}" type="datetimeFigureOut">
              <a:rPr lang="en-MY" smtClean="0"/>
              <a:t>1/12/2025</a:t>
            </a:fld>
            <a:endParaRPr lang="en-MY"/>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MY"/>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MY"/>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70EFF2-5884-4E08-B5DE-1CBF055CECD7}" type="slidenum">
              <a:rPr lang="en-MY" smtClean="0"/>
              <a:t>‹#›</a:t>
            </a:fld>
            <a:endParaRPr lang="en-MY"/>
          </a:p>
        </p:txBody>
      </p:sp>
    </p:spTree>
    <p:extLst>
      <p:ext uri="{BB962C8B-B14F-4D97-AF65-F5344CB8AC3E}">
        <p14:creationId xmlns:p14="http://schemas.microsoft.com/office/powerpoint/2010/main" val="496434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MY"/>
          </a:p>
        </p:txBody>
      </p:sp>
      <p:sp>
        <p:nvSpPr>
          <p:cNvPr id="4" name="Slide Number Placeholder 3"/>
          <p:cNvSpPr>
            <a:spLocks noGrp="1"/>
          </p:cNvSpPr>
          <p:nvPr>
            <p:ph type="sldNum" sz="quarter" idx="5"/>
          </p:nvPr>
        </p:nvSpPr>
        <p:spPr/>
        <p:txBody>
          <a:bodyPr/>
          <a:lstStyle/>
          <a:p>
            <a:fld id="{6970EFF2-5884-4E08-B5DE-1CBF055CECD7}" type="slidenum">
              <a:rPr lang="en-MY" smtClean="0"/>
              <a:t>10</a:t>
            </a:fld>
            <a:endParaRPr lang="en-MY"/>
          </a:p>
        </p:txBody>
      </p:sp>
    </p:spTree>
    <p:extLst>
      <p:ext uri="{BB962C8B-B14F-4D97-AF65-F5344CB8AC3E}">
        <p14:creationId xmlns:p14="http://schemas.microsoft.com/office/powerpoint/2010/main" val="2999159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C3370-2EE3-DC3D-39A9-1CA2E0449B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0751B9-61A7-1577-F0F5-63AAC48436CF}"/>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D2DC4E49-61C9-A6CB-22A8-9CF534E8BF40}"/>
              </a:ext>
            </a:extLst>
          </p:cNvPr>
          <p:cNvSpPr>
            <a:spLocks noGrp="1"/>
          </p:cNvSpPr>
          <p:nvPr>
            <p:ph type="body" idx="1"/>
          </p:nvPr>
        </p:nvSpPr>
        <p:spPr/>
        <p:txBody>
          <a:bodyPr/>
          <a:lstStyle/>
          <a:p>
            <a:endParaRPr lang="en-MY"/>
          </a:p>
        </p:txBody>
      </p:sp>
      <p:sp>
        <p:nvSpPr>
          <p:cNvPr id="4" name="Slide Number Placeholder 3">
            <a:extLst>
              <a:ext uri="{FF2B5EF4-FFF2-40B4-BE49-F238E27FC236}">
                <a16:creationId xmlns:a16="http://schemas.microsoft.com/office/drawing/2014/main" id="{050F8580-BB35-93F4-CA6D-A0DB8CD4FEEA}"/>
              </a:ext>
            </a:extLst>
          </p:cNvPr>
          <p:cNvSpPr>
            <a:spLocks noGrp="1"/>
          </p:cNvSpPr>
          <p:nvPr>
            <p:ph type="sldNum" sz="quarter" idx="5"/>
          </p:nvPr>
        </p:nvSpPr>
        <p:spPr/>
        <p:txBody>
          <a:bodyPr/>
          <a:lstStyle/>
          <a:p>
            <a:fld id="{6970EFF2-5884-4E08-B5DE-1CBF055CECD7}" type="slidenum">
              <a:rPr lang="en-MY" smtClean="0"/>
              <a:t>12</a:t>
            </a:fld>
            <a:endParaRPr lang="en-MY"/>
          </a:p>
        </p:txBody>
      </p:sp>
    </p:spTree>
    <p:extLst>
      <p:ext uri="{BB962C8B-B14F-4D97-AF65-F5344CB8AC3E}">
        <p14:creationId xmlns:p14="http://schemas.microsoft.com/office/powerpoint/2010/main" val="6328448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8190E-F393-B6B4-58D5-95BACC3174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C1449E-AA3E-1B33-F44F-D30857461F45}"/>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B4745F6E-AB9D-B54E-C3A9-B5D19D5C76A7}"/>
              </a:ext>
            </a:extLst>
          </p:cNvPr>
          <p:cNvSpPr>
            <a:spLocks noGrp="1"/>
          </p:cNvSpPr>
          <p:nvPr>
            <p:ph type="body" idx="1"/>
          </p:nvPr>
        </p:nvSpPr>
        <p:spPr/>
        <p:txBody>
          <a:bodyPr/>
          <a:lstStyle/>
          <a:p>
            <a:endParaRPr lang="en-MY"/>
          </a:p>
        </p:txBody>
      </p:sp>
      <p:sp>
        <p:nvSpPr>
          <p:cNvPr id="4" name="Slide Number Placeholder 3">
            <a:extLst>
              <a:ext uri="{FF2B5EF4-FFF2-40B4-BE49-F238E27FC236}">
                <a16:creationId xmlns:a16="http://schemas.microsoft.com/office/drawing/2014/main" id="{C7843E1C-3D18-3291-A846-E95D49A7AE0A}"/>
              </a:ext>
            </a:extLst>
          </p:cNvPr>
          <p:cNvSpPr>
            <a:spLocks noGrp="1"/>
          </p:cNvSpPr>
          <p:nvPr>
            <p:ph type="sldNum" sz="quarter" idx="5"/>
          </p:nvPr>
        </p:nvSpPr>
        <p:spPr/>
        <p:txBody>
          <a:bodyPr/>
          <a:lstStyle/>
          <a:p>
            <a:fld id="{6970EFF2-5884-4E08-B5DE-1CBF055CECD7}" type="slidenum">
              <a:rPr lang="en-MY" smtClean="0"/>
              <a:t>14</a:t>
            </a:fld>
            <a:endParaRPr lang="en-MY"/>
          </a:p>
        </p:txBody>
      </p:sp>
    </p:spTree>
    <p:extLst>
      <p:ext uri="{BB962C8B-B14F-4D97-AF65-F5344CB8AC3E}">
        <p14:creationId xmlns:p14="http://schemas.microsoft.com/office/powerpoint/2010/main" val="40929385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5"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5" indent="0" algn="ctr">
              <a:buNone/>
              <a:defRPr>
                <a:solidFill>
                  <a:schemeClr val="tx1">
                    <a:tint val="75000"/>
                  </a:schemeClr>
                </a:solidFill>
              </a:defRPr>
            </a:lvl4pPr>
            <a:lvl5pPr marL="1828846" indent="0" algn="ctr">
              <a:buNone/>
              <a:defRPr>
                <a:solidFill>
                  <a:schemeClr val="tx1">
                    <a:tint val="75000"/>
                  </a:schemeClr>
                </a:solidFill>
              </a:defRPr>
            </a:lvl5pPr>
            <a:lvl6pPr marL="2286057" indent="0" algn="ctr">
              <a:buNone/>
              <a:defRPr>
                <a:solidFill>
                  <a:schemeClr val="tx1">
                    <a:tint val="75000"/>
                  </a:schemeClr>
                </a:solidFill>
              </a:defRPr>
            </a:lvl6pPr>
            <a:lvl7pPr marL="2743268" indent="0" algn="ctr">
              <a:buNone/>
              <a:defRPr>
                <a:solidFill>
                  <a:schemeClr val="tx1">
                    <a:tint val="75000"/>
                  </a:schemeClr>
                </a:solidFill>
              </a:defRPr>
            </a:lvl7pPr>
            <a:lvl8pPr marL="3200481" indent="0" algn="ctr">
              <a:buNone/>
              <a:defRPr>
                <a:solidFill>
                  <a:schemeClr val="tx1">
                    <a:tint val="75000"/>
                  </a:schemeClr>
                </a:solidFill>
              </a:defRPr>
            </a:lvl8pPr>
            <a:lvl9pPr marL="365769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7" y="4406903"/>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7" y="2906716"/>
            <a:ext cx="7772400" cy="1500187"/>
          </a:xfrm>
        </p:spPr>
        <p:txBody>
          <a:bodyPr anchor="b"/>
          <a:lstStyle>
            <a:lvl1pPr marL="0" indent="0">
              <a:buNone/>
              <a:defRPr sz="2000">
                <a:solidFill>
                  <a:schemeClr val="tx1">
                    <a:tint val="75000"/>
                  </a:schemeClr>
                </a:solidFill>
              </a:defRPr>
            </a:lvl1pPr>
            <a:lvl2pPr marL="457211" indent="0">
              <a:buNone/>
              <a:defRPr sz="1801">
                <a:solidFill>
                  <a:schemeClr val="tx1">
                    <a:tint val="75000"/>
                  </a:schemeClr>
                </a:solidFill>
              </a:defRPr>
            </a:lvl2pPr>
            <a:lvl3pPr marL="914422" indent="0">
              <a:buNone/>
              <a:defRPr sz="1600">
                <a:solidFill>
                  <a:schemeClr val="tx1">
                    <a:tint val="75000"/>
                  </a:schemeClr>
                </a:solidFill>
              </a:defRPr>
            </a:lvl3pPr>
            <a:lvl4pPr marL="1371635" indent="0">
              <a:buNone/>
              <a:defRPr sz="1401">
                <a:solidFill>
                  <a:schemeClr val="tx1">
                    <a:tint val="75000"/>
                  </a:schemeClr>
                </a:solidFill>
              </a:defRPr>
            </a:lvl4pPr>
            <a:lvl5pPr marL="1828846" indent="0">
              <a:buNone/>
              <a:defRPr sz="1401">
                <a:solidFill>
                  <a:schemeClr val="tx1">
                    <a:tint val="75000"/>
                  </a:schemeClr>
                </a:solidFill>
              </a:defRPr>
            </a:lvl5pPr>
            <a:lvl6pPr marL="2286057" indent="0">
              <a:buNone/>
              <a:defRPr sz="1401">
                <a:solidFill>
                  <a:schemeClr val="tx1">
                    <a:tint val="75000"/>
                  </a:schemeClr>
                </a:solidFill>
              </a:defRPr>
            </a:lvl6pPr>
            <a:lvl7pPr marL="2743268" indent="0">
              <a:buNone/>
              <a:defRPr sz="1401">
                <a:solidFill>
                  <a:schemeClr val="tx1">
                    <a:tint val="75000"/>
                  </a:schemeClr>
                </a:solidFill>
              </a:defRPr>
            </a:lvl7pPr>
            <a:lvl8pPr marL="3200481" indent="0">
              <a:buNone/>
              <a:defRPr sz="1401">
                <a:solidFill>
                  <a:schemeClr val="tx1">
                    <a:tint val="75000"/>
                  </a:schemeClr>
                </a:solidFill>
              </a:defRPr>
            </a:lvl8pPr>
            <a:lvl9pPr marL="3657692" indent="0">
              <a:buNone/>
              <a:defRPr sz="1401">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4" y="1600200"/>
            <a:ext cx="4038601" cy="4525963"/>
          </a:xfrm>
        </p:spPr>
        <p:txBody>
          <a:bodyPr/>
          <a:lstStyle>
            <a:lvl1pPr>
              <a:defRPr sz="2800"/>
            </a:lvl1pPr>
            <a:lvl2pPr>
              <a:defRPr sz="2400"/>
            </a:lvl2pPr>
            <a:lvl3pPr>
              <a:defRPr sz="2000"/>
            </a:lvl3pPr>
            <a:lvl4pPr>
              <a:defRPr sz="1801"/>
            </a:lvl4pPr>
            <a:lvl5pPr>
              <a:defRPr sz="1801"/>
            </a:lvl5pPr>
            <a:lvl6pPr>
              <a:defRPr sz="1801"/>
            </a:lvl6pPr>
            <a:lvl7pPr>
              <a:defRPr sz="1801"/>
            </a:lvl7pPr>
            <a:lvl8pPr>
              <a:defRPr sz="1801"/>
            </a:lvl8pPr>
            <a:lvl9pPr>
              <a:defRPr sz="18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4" y="1600200"/>
            <a:ext cx="4038601" cy="4525963"/>
          </a:xfrm>
        </p:spPr>
        <p:txBody>
          <a:bodyPr/>
          <a:lstStyle>
            <a:lvl1pPr>
              <a:defRPr sz="2800"/>
            </a:lvl1pPr>
            <a:lvl2pPr>
              <a:defRPr sz="2400"/>
            </a:lvl2pPr>
            <a:lvl3pPr>
              <a:defRPr sz="2000"/>
            </a:lvl3pPr>
            <a:lvl4pPr>
              <a:defRPr sz="1801"/>
            </a:lvl4pPr>
            <a:lvl5pPr>
              <a:defRPr sz="1801"/>
            </a:lvl5pPr>
            <a:lvl6pPr>
              <a:defRPr sz="1801"/>
            </a:lvl6pPr>
            <a:lvl7pPr>
              <a:defRPr sz="1801"/>
            </a:lvl7pPr>
            <a:lvl8pPr>
              <a:defRPr sz="1801"/>
            </a:lvl8pPr>
            <a:lvl9pPr>
              <a:defRPr sz="1801"/>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4"/>
            <a:ext cx="4040188" cy="639762"/>
          </a:xfrm>
        </p:spPr>
        <p:txBody>
          <a:bodyPr anchor="b"/>
          <a:lstStyle>
            <a:lvl1pPr marL="0" indent="0">
              <a:buNone/>
              <a:defRPr sz="2400" b="1"/>
            </a:lvl1pPr>
            <a:lvl2pPr marL="457211" indent="0">
              <a:buNone/>
              <a:defRPr sz="2000" b="1"/>
            </a:lvl2pPr>
            <a:lvl3pPr marL="914422" indent="0">
              <a:buNone/>
              <a:defRPr sz="1801" b="1"/>
            </a:lvl3pPr>
            <a:lvl4pPr marL="1371635" indent="0">
              <a:buNone/>
              <a:defRPr sz="1600" b="1"/>
            </a:lvl4pPr>
            <a:lvl5pPr marL="1828846" indent="0">
              <a:buNone/>
              <a:defRPr sz="1600" b="1"/>
            </a:lvl5pPr>
            <a:lvl6pPr marL="2286057" indent="0">
              <a:buNone/>
              <a:defRPr sz="1600" b="1"/>
            </a:lvl6pPr>
            <a:lvl7pPr marL="2743268" indent="0">
              <a:buNone/>
              <a:defRPr sz="1600" b="1"/>
            </a:lvl7pPr>
            <a:lvl8pPr marL="3200481" indent="0">
              <a:buNone/>
              <a:defRPr sz="1600" b="1"/>
            </a:lvl8pPr>
            <a:lvl9pPr marL="3657692"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1"/>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4"/>
            <a:ext cx="4041774" cy="639762"/>
          </a:xfrm>
        </p:spPr>
        <p:txBody>
          <a:bodyPr anchor="b"/>
          <a:lstStyle>
            <a:lvl1pPr marL="0" indent="0">
              <a:buNone/>
              <a:defRPr sz="2400" b="1"/>
            </a:lvl1pPr>
            <a:lvl2pPr marL="457211" indent="0">
              <a:buNone/>
              <a:defRPr sz="2000" b="1"/>
            </a:lvl2pPr>
            <a:lvl3pPr marL="914422" indent="0">
              <a:buNone/>
              <a:defRPr sz="1801" b="1"/>
            </a:lvl3pPr>
            <a:lvl4pPr marL="1371635" indent="0">
              <a:buNone/>
              <a:defRPr sz="1600" b="1"/>
            </a:lvl4pPr>
            <a:lvl5pPr marL="1828846" indent="0">
              <a:buNone/>
              <a:defRPr sz="1600" b="1"/>
            </a:lvl5pPr>
            <a:lvl6pPr marL="2286057" indent="0">
              <a:buNone/>
              <a:defRPr sz="1600" b="1"/>
            </a:lvl6pPr>
            <a:lvl7pPr marL="2743268" indent="0">
              <a:buNone/>
              <a:defRPr sz="1600" b="1"/>
            </a:lvl7pPr>
            <a:lvl8pPr marL="3200481" indent="0">
              <a:buNone/>
              <a:defRPr sz="1600" b="1"/>
            </a:lvl8pPr>
            <a:lvl9pPr marL="3657692"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4" cy="3951288"/>
          </a:xfrm>
        </p:spPr>
        <p:txBody>
          <a:bodyPr/>
          <a:lstStyle>
            <a:lvl1pPr>
              <a:defRPr sz="2400"/>
            </a:lvl1pPr>
            <a:lvl2pPr>
              <a:defRPr sz="2000"/>
            </a:lvl2pPr>
            <a:lvl3pPr>
              <a:defRPr sz="1801"/>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5" y="273050"/>
            <a:ext cx="511174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1"/>
            <a:ext cx="3008313" cy="4691063"/>
          </a:xfrm>
        </p:spPr>
        <p:txBody>
          <a:bodyPr/>
          <a:lstStyle>
            <a:lvl1pPr marL="0" indent="0">
              <a:buNone/>
              <a:defRPr sz="1401"/>
            </a:lvl1pPr>
            <a:lvl2pPr marL="457211" indent="0">
              <a:buNone/>
              <a:defRPr sz="1200"/>
            </a:lvl2pPr>
            <a:lvl3pPr marL="914422" indent="0">
              <a:buNone/>
              <a:defRPr sz="1001"/>
            </a:lvl3pPr>
            <a:lvl4pPr marL="1371635" indent="0">
              <a:buNone/>
              <a:defRPr sz="900"/>
            </a:lvl4pPr>
            <a:lvl5pPr marL="1828846" indent="0">
              <a:buNone/>
              <a:defRPr sz="900"/>
            </a:lvl5pPr>
            <a:lvl6pPr marL="2286057" indent="0">
              <a:buNone/>
              <a:defRPr sz="900"/>
            </a:lvl6pPr>
            <a:lvl7pPr marL="2743268" indent="0">
              <a:buNone/>
              <a:defRPr sz="900"/>
            </a:lvl7pPr>
            <a:lvl8pPr marL="3200481" indent="0">
              <a:buNone/>
              <a:defRPr sz="900"/>
            </a:lvl8pPr>
            <a:lvl9pPr marL="3657692"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11" indent="0">
              <a:buNone/>
              <a:defRPr sz="2800"/>
            </a:lvl2pPr>
            <a:lvl3pPr marL="914422" indent="0">
              <a:buNone/>
              <a:defRPr sz="2400"/>
            </a:lvl3pPr>
            <a:lvl4pPr marL="1371635" indent="0">
              <a:buNone/>
              <a:defRPr sz="2000"/>
            </a:lvl4pPr>
            <a:lvl5pPr marL="1828846" indent="0">
              <a:buNone/>
              <a:defRPr sz="2000"/>
            </a:lvl5pPr>
            <a:lvl6pPr marL="2286057" indent="0">
              <a:buNone/>
              <a:defRPr sz="2000"/>
            </a:lvl6pPr>
            <a:lvl7pPr marL="2743268" indent="0">
              <a:buNone/>
              <a:defRPr sz="2000"/>
            </a:lvl7pPr>
            <a:lvl8pPr marL="3200481" indent="0">
              <a:buNone/>
              <a:defRPr sz="2000"/>
            </a:lvl8pPr>
            <a:lvl9pPr marL="3657692"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1"/>
            </a:lvl1pPr>
            <a:lvl2pPr marL="457211" indent="0">
              <a:buNone/>
              <a:defRPr sz="1200"/>
            </a:lvl2pPr>
            <a:lvl3pPr marL="914422" indent="0">
              <a:buNone/>
              <a:defRPr sz="1001"/>
            </a:lvl3pPr>
            <a:lvl4pPr marL="1371635" indent="0">
              <a:buNone/>
              <a:defRPr sz="900"/>
            </a:lvl4pPr>
            <a:lvl5pPr marL="1828846" indent="0">
              <a:buNone/>
              <a:defRPr sz="900"/>
            </a:lvl5pPr>
            <a:lvl6pPr marL="2286057" indent="0">
              <a:buNone/>
              <a:defRPr sz="900"/>
            </a:lvl6pPr>
            <a:lvl7pPr marL="2743268" indent="0">
              <a:buNone/>
              <a:defRPr sz="900"/>
            </a:lvl7pPr>
            <a:lvl8pPr marL="3200481" indent="0">
              <a:buNone/>
              <a:defRPr sz="900"/>
            </a:lvl8pPr>
            <a:lvl9pPr marL="3657692"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399" y="274641"/>
            <a:ext cx="2057401"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019801"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3"/>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12/1/2025</a:t>
            </a:fld>
            <a:endParaRPr lang="en-US"/>
          </a:p>
        </p:txBody>
      </p:sp>
      <p:sp>
        <p:nvSpPr>
          <p:cNvPr id="5" name="Footer Placeholder 4"/>
          <p:cNvSpPr>
            <a:spLocks noGrp="1"/>
          </p:cNvSpPr>
          <p:nvPr>
            <p:ph type="ftr" sz="quarter" idx="3"/>
          </p:nvPr>
        </p:nvSpPr>
        <p:spPr>
          <a:xfrm>
            <a:off x="3124205" y="6356353"/>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3"/>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22" rtl="0" eaLnBrk="1" latinLnBrk="0" hangingPunct="1">
        <a:spcBef>
          <a:spcPct val="0"/>
        </a:spcBef>
        <a:buNone/>
        <a:defRPr sz="4400" kern="1200">
          <a:solidFill>
            <a:schemeClr val="tx1"/>
          </a:solidFill>
          <a:latin typeface="+mj-lt"/>
          <a:ea typeface="+mj-ea"/>
          <a:cs typeface="+mj-cs"/>
        </a:defRPr>
      </a:lvl1pPr>
    </p:titleStyle>
    <p:bodyStyle>
      <a:lvl1pPr marL="342909" indent="-342909" algn="l" defTabSz="91442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68" indent="-285756" algn="l" defTabSz="91442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29" indent="-228607" algn="l" defTabSz="91442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40" indent="-228607" algn="l" defTabSz="91442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53" indent="-228607" algn="l" defTabSz="91442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64" indent="-228607" algn="l" defTabSz="91442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75" indent="-228607" algn="l" defTabSz="91442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86" indent="-228607" algn="l" defTabSz="91442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97" indent="-228607" algn="l" defTabSz="91442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22" rtl="0" eaLnBrk="1" latinLnBrk="0" hangingPunct="1">
        <a:defRPr sz="1801" kern="1200">
          <a:solidFill>
            <a:schemeClr val="tx1"/>
          </a:solidFill>
          <a:latin typeface="+mn-lt"/>
          <a:ea typeface="+mn-ea"/>
          <a:cs typeface="+mn-cs"/>
        </a:defRPr>
      </a:lvl1pPr>
      <a:lvl2pPr marL="457211" algn="l" defTabSz="914422" rtl="0" eaLnBrk="1" latinLnBrk="0" hangingPunct="1">
        <a:defRPr sz="1801" kern="1200">
          <a:solidFill>
            <a:schemeClr val="tx1"/>
          </a:solidFill>
          <a:latin typeface="+mn-lt"/>
          <a:ea typeface="+mn-ea"/>
          <a:cs typeface="+mn-cs"/>
        </a:defRPr>
      </a:lvl2pPr>
      <a:lvl3pPr marL="914422" algn="l" defTabSz="914422" rtl="0" eaLnBrk="1" latinLnBrk="0" hangingPunct="1">
        <a:defRPr sz="1801" kern="1200">
          <a:solidFill>
            <a:schemeClr val="tx1"/>
          </a:solidFill>
          <a:latin typeface="+mn-lt"/>
          <a:ea typeface="+mn-ea"/>
          <a:cs typeface="+mn-cs"/>
        </a:defRPr>
      </a:lvl3pPr>
      <a:lvl4pPr marL="1371635" algn="l" defTabSz="914422" rtl="0" eaLnBrk="1" latinLnBrk="0" hangingPunct="1">
        <a:defRPr sz="1801" kern="1200">
          <a:solidFill>
            <a:schemeClr val="tx1"/>
          </a:solidFill>
          <a:latin typeface="+mn-lt"/>
          <a:ea typeface="+mn-ea"/>
          <a:cs typeface="+mn-cs"/>
        </a:defRPr>
      </a:lvl4pPr>
      <a:lvl5pPr marL="1828846" algn="l" defTabSz="914422" rtl="0" eaLnBrk="1" latinLnBrk="0" hangingPunct="1">
        <a:defRPr sz="1801" kern="1200">
          <a:solidFill>
            <a:schemeClr val="tx1"/>
          </a:solidFill>
          <a:latin typeface="+mn-lt"/>
          <a:ea typeface="+mn-ea"/>
          <a:cs typeface="+mn-cs"/>
        </a:defRPr>
      </a:lvl5pPr>
      <a:lvl6pPr marL="2286057" algn="l" defTabSz="914422" rtl="0" eaLnBrk="1" latinLnBrk="0" hangingPunct="1">
        <a:defRPr sz="1801" kern="1200">
          <a:solidFill>
            <a:schemeClr val="tx1"/>
          </a:solidFill>
          <a:latin typeface="+mn-lt"/>
          <a:ea typeface="+mn-ea"/>
          <a:cs typeface="+mn-cs"/>
        </a:defRPr>
      </a:lvl6pPr>
      <a:lvl7pPr marL="2743268" algn="l" defTabSz="914422" rtl="0" eaLnBrk="1" latinLnBrk="0" hangingPunct="1">
        <a:defRPr sz="1801" kern="1200">
          <a:solidFill>
            <a:schemeClr val="tx1"/>
          </a:solidFill>
          <a:latin typeface="+mn-lt"/>
          <a:ea typeface="+mn-ea"/>
          <a:cs typeface="+mn-cs"/>
        </a:defRPr>
      </a:lvl7pPr>
      <a:lvl8pPr marL="3200481" algn="l" defTabSz="914422" rtl="0" eaLnBrk="1" latinLnBrk="0" hangingPunct="1">
        <a:defRPr sz="1801" kern="1200">
          <a:solidFill>
            <a:schemeClr val="tx1"/>
          </a:solidFill>
          <a:latin typeface="+mn-lt"/>
          <a:ea typeface="+mn-ea"/>
          <a:cs typeface="+mn-cs"/>
        </a:defRPr>
      </a:lvl8pPr>
      <a:lvl9pPr marL="3657692" algn="l" defTabSz="914422" rtl="0" eaLnBrk="1" latinLnBrk="0" hangingPunct="1">
        <a:defRPr sz="180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
            <a:ext cx="18288000" cy="10287001"/>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1955804" y="4506121"/>
            <a:ext cx="14511543" cy="1433662"/>
          </a:xfrm>
          <a:prstGeom prst="rect">
            <a:avLst/>
          </a:prstGeom>
        </p:spPr>
        <p:txBody>
          <a:bodyPr wrap="square" lIns="0" tIns="0" rIns="0" bIns="0" rtlCol="0" anchor="t">
            <a:spAutoFit/>
          </a:bodyPr>
          <a:lstStyle/>
          <a:p>
            <a:pPr algn="ctr">
              <a:lnSpc>
                <a:spcPts val="11572"/>
              </a:lnSpc>
            </a:pPr>
            <a:r>
              <a:rPr lang="en-US" sz="8265" b="1" dirty="0">
                <a:solidFill>
                  <a:srgbClr val="004AAD"/>
                </a:solidFill>
                <a:latin typeface="League Spartan"/>
                <a:ea typeface="League Spartan"/>
                <a:cs typeface="League Spartan"/>
                <a:sym typeface="League Spartan"/>
              </a:rPr>
              <a:t>Sales Performance</a:t>
            </a:r>
          </a:p>
        </p:txBody>
      </p:sp>
      <p:grpSp>
        <p:nvGrpSpPr>
          <p:cNvPr id="4" name="Group 4"/>
          <p:cNvGrpSpPr/>
          <p:nvPr/>
        </p:nvGrpSpPr>
        <p:grpSpPr>
          <a:xfrm>
            <a:off x="-1130300" y="4057750"/>
            <a:ext cx="3086100" cy="2171499"/>
            <a:chOff x="0" y="0"/>
            <a:chExt cx="812800" cy="571917"/>
          </a:xfrm>
        </p:grpSpPr>
        <p:sp>
          <p:nvSpPr>
            <p:cNvPr id="5" name="Freeform 5"/>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6" name="TextBox 6"/>
            <p:cNvSpPr txBox="1"/>
            <p:nvPr/>
          </p:nvSpPr>
          <p:spPr>
            <a:xfrm>
              <a:off x="0" y="-47625"/>
              <a:ext cx="812800" cy="619542"/>
            </a:xfrm>
            <a:prstGeom prst="rect">
              <a:avLst/>
            </a:prstGeom>
          </p:spPr>
          <p:txBody>
            <a:bodyPr lIns="50800" tIns="50800" rIns="50800" bIns="50800" rtlCol="0" anchor="ctr"/>
            <a:lstStyle/>
            <a:p>
              <a:pPr algn="ctr">
                <a:lnSpc>
                  <a:spcPts val="2660"/>
                </a:lnSpc>
              </a:pPr>
              <a:endParaRPr sz="1801"/>
            </a:p>
          </p:txBody>
        </p:sp>
      </p:grpSp>
      <p:sp>
        <p:nvSpPr>
          <p:cNvPr id="7" name="TextBox 7"/>
          <p:cNvSpPr txBox="1"/>
          <p:nvPr/>
        </p:nvSpPr>
        <p:spPr>
          <a:xfrm>
            <a:off x="6323009" y="3528848"/>
            <a:ext cx="5641993" cy="881716"/>
          </a:xfrm>
          <a:prstGeom prst="rect">
            <a:avLst/>
          </a:prstGeom>
        </p:spPr>
        <p:txBody>
          <a:bodyPr lIns="0" tIns="0" rIns="0" bIns="0" rtlCol="0" anchor="t">
            <a:spAutoFit/>
          </a:bodyPr>
          <a:lstStyle/>
          <a:p>
            <a:pPr algn="ctr">
              <a:lnSpc>
                <a:spcPts val="7424"/>
              </a:lnSpc>
            </a:pPr>
            <a:r>
              <a:rPr lang="en-US" sz="5303" b="1" dirty="0">
                <a:solidFill>
                  <a:srgbClr val="303642"/>
                </a:solidFill>
                <a:latin typeface="Roboto Bold"/>
                <a:ea typeface="Roboto Bold"/>
                <a:cs typeface="Roboto Bold"/>
                <a:sym typeface="Roboto Bold"/>
              </a:rPr>
              <a:t>Tech Nova </a:t>
            </a:r>
          </a:p>
        </p:txBody>
      </p:sp>
      <p:sp>
        <p:nvSpPr>
          <p:cNvPr id="8" name="TextBox 8"/>
          <p:cNvSpPr txBox="1"/>
          <p:nvPr/>
        </p:nvSpPr>
        <p:spPr>
          <a:xfrm>
            <a:off x="4880590" y="5852409"/>
            <a:ext cx="8526827" cy="427425"/>
          </a:xfrm>
          <a:prstGeom prst="rect">
            <a:avLst/>
          </a:prstGeom>
        </p:spPr>
        <p:txBody>
          <a:bodyPr lIns="0" tIns="0" rIns="0" bIns="0" rtlCol="0" anchor="t">
            <a:spAutoFit/>
          </a:bodyPr>
          <a:lstStyle/>
          <a:p>
            <a:pPr algn="ctr">
              <a:lnSpc>
                <a:spcPts val="3108"/>
              </a:lnSpc>
              <a:spcBef>
                <a:spcPct val="0"/>
              </a:spcBef>
            </a:pPr>
            <a:r>
              <a:rPr lang="en-US" sz="3600" dirty="0">
                <a:solidFill>
                  <a:srgbClr val="303642"/>
                </a:solidFill>
                <a:latin typeface="Poppins"/>
                <a:ea typeface="Poppins"/>
                <a:cs typeface="Poppins"/>
                <a:sym typeface="Poppins"/>
              </a:rPr>
              <a:t>2020 - 2024</a:t>
            </a:r>
          </a:p>
        </p:txBody>
      </p:sp>
      <p:grpSp>
        <p:nvGrpSpPr>
          <p:cNvPr id="9" name="Group 9"/>
          <p:cNvGrpSpPr/>
          <p:nvPr/>
        </p:nvGrpSpPr>
        <p:grpSpPr>
          <a:xfrm>
            <a:off x="16467346" y="4057752"/>
            <a:ext cx="3086100" cy="2171499"/>
            <a:chOff x="0" y="0"/>
            <a:chExt cx="812800" cy="571917"/>
          </a:xfrm>
        </p:grpSpPr>
        <p:sp>
          <p:nvSpPr>
            <p:cNvPr id="10" name="Freeform 10"/>
            <p:cNvSpPr/>
            <p:nvPr/>
          </p:nvSpPr>
          <p:spPr>
            <a:xfrm>
              <a:off x="0" y="0"/>
              <a:ext cx="812800" cy="571917"/>
            </a:xfrm>
            <a:custGeom>
              <a:avLst/>
              <a:gdLst/>
              <a:ahLst/>
              <a:cxnLst/>
              <a:rect l="l" t="t" r="r" b="b"/>
              <a:pathLst>
                <a:path w="812800" h="571917">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id="11" name="TextBox 11"/>
            <p:cNvSpPr txBox="1"/>
            <p:nvPr/>
          </p:nvSpPr>
          <p:spPr>
            <a:xfrm>
              <a:off x="0" y="-47625"/>
              <a:ext cx="812800" cy="619542"/>
            </a:xfrm>
            <a:prstGeom prst="rect">
              <a:avLst/>
            </a:prstGeom>
          </p:spPr>
          <p:txBody>
            <a:bodyPr lIns="50800" tIns="50800" rIns="50800" bIns="50800" rtlCol="0" anchor="ctr"/>
            <a:lstStyle/>
            <a:p>
              <a:pPr algn="ctr">
                <a:lnSpc>
                  <a:spcPts val="2660"/>
                </a:lnSpc>
              </a:pPr>
              <a:endParaRPr sz="1801"/>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
            <a:ext cx="18288000" cy="10287001"/>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grpSp>
        <p:nvGrpSpPr>
          <p:cNvPr id="3" name="Group 3"/>
          <p:cNvGrpSpPr/>
          <p:nvPr/>
        </p:nvGrpSpPr>
        <p:grpSpPr>
          <a:xfrm>
            <a:off x="0" y="-1"/>
            <a:ext cx="6792708" cy="10287001"/>
            <a:chOff x="0" y="0"/>
            <a:chExt cx="1789026" cy="2709333"/>
          </a:xfrm>
        </p:grpSpPr>
        <p:sp>
          <p:nvSpPr>
            <p:cNvPr id="4" name="Freeform 4"/>
            <p:cNvSpPr/>
            <p:nvPr/>
          </p:nvSpPr>
          <p:spPr>
            <a:xfrm>
              <a:off x="0" y="0"/>
              <a:ext cx="1789026" cy="2709333"/>
            </a:xfrm>
            <a:custGeom>
              <a:avLst/>
              <a:gdLst/>
              <a:ahLst/>
              <a:cxnLst/>
              <a:rect l="l" t="t" r="r" b="b"/>
              <a:pathLst>
                <a:path w="1789026" h="2709333">
                  <a:moveTo>
                    <a:pt x="0" y="0"/>
                  </a:moveTo>
                  <a:lnTo>
                    <a:pt x="1789026" y="0"/>
                  </a:lnTo>
                  <a:lnTo>
                    <a:pt x="1789026" y="2709333"/>
                  </a:lnTo>
                  <a:lnTo>
                    <a:pt x="0" y="2709333"/>
                  </a:lnTo>
                  <a:close/>
                </a:path>
              </a:pathLst>
            </a:custGeom>
            <a:solidFill>
              <a:srgbClr val="004AAD"/>
            </a:solidFill>
          </p:spPr>
        </p:sp>
        <p:sp>
          <p:nvSpPr>
            <p:cNvPr id="5" name="TextBox 5"/>
            <p:cNvSpPr txBox="1"/>
            <p:nvPr/>
          </p:nvSpPr>
          <p:spPr>
            <a:xfrm>
              <a:off x="0" y="-47625"/>
              <a:ext cx="1789026" cy="2756958"/>
            </a:xfrm>
            <a:prstGeom prst="rect">
              <a:avLst/>
            </a:prstGeom>
          </p:spPr>
          <p:txBody>
            <a:bodyPr lIns="50800" tIns="50800" rIns="50800" bIns="50800" rtlCol="0" anchor="ctr"/>
            <a:lstStyle/>
            <a:p>
              <a:pPr algn="ctr">
                <a:lnSpc>
                  <a:spcPts val="2660"/>
                </a:lnSpc>
              </a:pPr>
              <a:endParaRPr sz="1801"/>
            </a:p>
          </p:txBody>
        </p:sp>
      </p:grpSp>
      <p:grpSp>
        <p:nvGrpSpPr>
          <p:cNvPr id="6" name="Group 6"/>
          <p:cNvGrpSpPr/>
          <p:nvPr/>
        </p:nvGrpSpPr>
        <p:grpSpPr>
          <a:xfrm>
            <a:off x="5446820" y="8630508"/>
            <a:ext cx="897166" cy="2183545"/>
            <a:chOff x="0" y="0"/>
            <a:chExt cx="236291" cy="575090"/>
          </a:xfrm>
        </p:grpSpPr>
        <p:sp>
          <p:nvSpPr>
            <p:cNvPr id="7" name="Freeform 7"/>
            <p:cNvSpPr/>
            <p:nvPr/>
          </p:nvSpPr>
          <p:spPr>
            <a:xfrm>
              <a:off x="0" y="0"/>
              <a:ext cx="236291" cy="575090"/>
            </a:xfrm>
            <a:custGeom>
              <a:avLst/>
              <a:gdLst/>
              <a:ahLst/>
              <a:cxnLst/>
              <a:rect l="l" t="t" r="r" b="b"/>
              <a:pathLst>
                <a:path w="236291" h="575090">
                  <a:moveTo>
                    <a:pt x="118145" y="0"/>
                  </a:moveTo>
                  <a:lnTo>
                    <a:pt x="118145" y="0"/>
                  </a:lnTo>
                  <a:cubicBezTo>
                    <a:pt x="183395" y="0"/>
                    <a:pt x="236291" y="52895"/>
                    <a:pt x="236291" y="118145"/>
                  </a:cubicBezTo>
                  <a:lnTo>
                    <a:pt x="236291" y="456945"/>
                  </a:lnTo>
                  <a:cubicBezTo>
                    <a:pt x="236291" y="488279"/>
                    <a:pt x="223843" y="518330"/>
                    <a:pt x="201687" y="540486"/>
                  </a:cubicBezTo>
                  <a:cubicBezTo>
                    <a:pt x="179530" y="562643"/>
                    <a:pt x="149480" y="575090"/>
                    <a:pt x="118145" y="575090"/>
                  </a:cubicBezTo>
                  <a:lnTo>
                    <a:pt x="118145" y="575090"/>
                  </a:lnTo>
                  <a:cubicBezTo>
                    <a:pt x="86811" y="575090"/>
                    <a:pt x="56761" y="562643"/>
                    <a:pt x="34604" y="540486"/>
                  </a:cubicBezTo>
                  <a:cubicBezTo>
                    <a:pt x="12447" y="518330"/>
                    <a:pt x="0" y="488279"/>
                    <a:pt x="0" y="456945"/>
                  </a:cubicBezTo>
                  <a:lnTo>
                    <a:pt x="0" y="118145"/>
                  </a:lnTo>
                  <a:cubicBezTo>
                    <a:pt x="0" y="86811"/>
                    <a:pt x="12447" y="56761"/>
                    <a:pt x="34604" y="34604"/>
                  </a:cubicBezTo>
                  <a:cubicBezTo>
                    <a:pt x="56761" y="12447"/>
                    <a:pt x="86811" y="0"/>
                    <a:pt x="118145" y="0"/>
                  </a:cubicBezTo>
                  <a:close/>
                </a:path>
              </a:pathLst>
            </a:custGeom>
            <a:solidFill>
              <a:srgbClr val="FFFFFF"/>
            </a:solidFill>
          </p:spPr>
        </p:sp>
        <p:sp>
          <p:nvSpPr>
            <p:cNvPr id="8" name="TextBox 8"/>
            <p:cNvSpPr txBox="1"/>
            <p:nvPr/>
          </p:nvSpPr>
          <p:spPr>
            <a:xfrm>
              <a:off x="0" y="-47625"/>
              <a:ext cx="236291" cy="622715"/>
            </a:xfrm>
            <a:prstGeom prst="rect">
              <a:avLst/>
            </a:prstGeom>
          </p:spPr>
          <p:txBody>
            <a:bodyPr lIns="50800" tIns="50800" rIns="50800" bIns="50800" rtlCol="0" anchor="ctr"/>
            <a:lstStyle/>
            <a:p>
              <a:pPr algn="ctr">
                <a:lnSpc>
                  <a:spcPts val="2660"/>
                </a:lnSpc>
              </a:pPr>
              <a:endParaRPr sz="1801"/>
            </a:p>
          </p:txBody>
        </p:sp>
      </p:grpSp>
      <p:sp>
        <p:nvSpPr>
          <p:cNvPr id="12" name="TextBox 12"/>
          <p:cNvSpPr txBox="1"/>
          <p:nvPr/>
        </p:nvSpPr>
        <p:spPr>
          <a:xfrm>
            <a:off x="579067" y="1381054"/>
            <a:ext cx="4243380" cy="1662315"/>
          </a:xfrm>
          <a:prstGeom prst="rect">
            <a:avLst/>
          </a:prstGeom>
        </p:spPr>
        <p:txBody>
          <a:bodyPr lIns="0" tIns="0" rIns="0" bIns="0" rtlCol="0" anchor="t">
            <a:spAutoFit/>
          </a:bodyPr>
          <a:lstStyle/>
          <a:p>
            <a:pPr>
              <a:lnSpc>
                <a:spcPts val="6590"/>
              </a:lnSpc>
            </a:pPr>
            <a:r>
              <a:rPr lang="en-US" sz="4708" dirty="0">
                <a:solidFill>
                  <a:srgbClr val="FFFFFF"/>
                </a:solidFill>
                <a:latin typeface="League Spartan"/>
                <a:ea typeface="League Spartan"/>
                <a:cs typeface="League Spartan"/>
                <a:sym typeface="League Spartan"/>
              </a:rPr>
              <a:t>Company</a:t>
            </a:r>
          </a:p>
          <a:p>
            <a:pPr>
              <a:lnSpc>
                <a:spcPts val="6590"/>
              </a:lnSpc>
            </a:pPr>
            <a:r>
              <a:rPr lang="en-US" sz="4708" dirty="0">
                <a:solidFill>
                  <a:srgbClr val="FFFFFF"/>
                </a:solidFill>
                <a:latin typeface="League Spartan"/>
                <a:ea typeface="League Spartan"/>
                <a:cs typeface="League Spartan"/>
                <a:sym typeface="League Spartan"/>
              </a:rPr>
              <a:t>Background</a:t>
            </a:r>
          </a:p>
        </p:txBody>
      </p:sp>
      <p:sp>
        <p:nvSpPr>
          <p:cNvPr id="14" name="TextBox 14"/>
          <p:cNvSpPr txBox="1"/>
          <p:nvPr/>
        </p:nvSpPr>
        <p:spPr>
          <a:xfrm>
            <a:off x="579067" y="3570422"/>
            <a:ext cx="5634574" cy="4212050"/>
          </a:xfrm>
          <a:prstGeom prst="rect">
            <a:avLst/>
          </a:prstGeom>
        </p:spPr>
        <p:txBody>
          <a:bodyPr lIns="0" tIns="0" rIns="0" bIns="0" rtlCol="0" anchor="t">
            <a:spAutoFit/>
          </a:bodyPr>
          <a:lstStyle/>
          <a:p>
            <a:pPr algn="just">
              <a:lnSpc>
                <a:spcPts val="2976"/>
              </a:lnSpc>
              <a:spcBef>
                <a:spcPct val="0"/>
              </a:spcBef>
            </a:pPr>
            <a:r>
              <a:rPr lang="en-US" sz="2124" dirty="0">
                <a:solidFill>
                  <a:srgbClr val="FFFFFF"/>
                </a:solidFill>
                <a:latin typeface="Poppins"/>
                <a:ea typeface="Poppins"/>
                <a:cs typeface="Poppins"/>
                <a:sym typeface="Poppins"/>
              </a:rPr>
              <a:t>Incorporated in 2005, Tech Nova has expanded its business portfolio across eight countries and now operates 57 physical stores along with one online platform. </a:t>
            </a:r>
          </a:p>
          <a:p>
            <a:pPr algn="just">
              <a:lnSpc>
                <a:spcPts val="2976"/>
              </a:lnSpc>
              <a:spcBef>
                <a:spcPct val="0"/>
              </a:spcBef>
            </a:pPr>
            <a:endParaRPr lang="en-US" sz="2124" dirty="0">
              <a:solidFill>
                <a:srgbClr val="FFFFFF"/>
              </a:solidFill>
              <a:latin typeface="Poppins"/>
              <a:ea typeface="Poppins"/>
              <a:cs typeface="Poppins"/>
              <a:sym typeface="Poppins"/>
            </a:endParaRPr>
          </a:p>
          <a:p>
            <a:pPr algn="just">
              <a:lnSpc>
                <a:spcPts val="2976"/>
              </a:lnSpc>
              <a:spcBef>
                <a:spcPct val="0"/>
              </a:spcBef>
            </a:pPr>
            <a:r>
              <a:rPr lang="en-US" sz="2124" dirty="0">
                <a:solidFill>
                  <a:srgbClr val="FFFFFF"/>
                </a:solidFill>
                <a:latin typeface="Poppins"/>
                <a:ea typeface="Poppins"/>
                <a:cs typeface="Poppins"/>
                <a:sym typeface="Poppins"/>
              </a:rPr>
              <a:t>Today, Tech Nova offers extensive electronic products from computers, laptops and smart phones to household items like television and washing machines. </a:t>
            </a:r>
          </a:p>
        </p:txBody>
      </p:sp>
      <p:pic>
        <p:nvPicPr>
          <p:cNvPr id="19" name="Picture 5">
            <a:extLst>
              <a:ext uri="{FF2B5EF4-FFF2-40B4-BE49-F238E27FC236}">
                <a16:creationId xmlns:a16="http://schemas.microsoft.com/office/drawing/2014/main" id="{2984CA58-2EEE-EBBA-FA60-AB1BD3BAA9B7}"/>
              </a:ext>
            </a:extLst>
          </p:cNvPr>
          <p:cNvPicPr>
            <a:picLocks noChangeAspect="1"/>
          </p:cNvPicPr>
          <p:nvPr/>
        </p:nvPicPr>
        <p:blipFill rotWithShape="1">
          <a:blip r:embed="rId3"/>
          <a:srcRect r="27496"/>
          <a:stretch/>
        </p:blipFill>
        <p:spPr>
          <a:xfrm>
            <a:off x="8153403" y="2059539"/>
            <a:ext cx="7886868" cy="72338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B5992C-E53D-349F-06D5-80947DC28289}"/>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A468A1F4-DCF2-DA3C-33C5-8A3BAC2A115E}"/>
              </a:ext>
            </a:extLst>
          </p:cNvPr>
          <p:cNvSpPr txBox="1"/>
          <p:nvPr/>
        </p:nvSpPr>
        <p:spPr>
          <a:xfrm>
            <a:off x="1028701" y="266700"/>
            <a:ext cx="9029700" cy="1780937"/>
          </a:xfrm>
          <a:prstGeom prst="rect">
            <a:avLst/>
          </a:prstGeom>
        </p:spPr>
        <p:txBody>
          <a:bodyPr wrap="square" lIns="0" tIns="0" rIns="0" bIns="0" rtlCol="0" anchor="t">
            <a:spAutoFit/>
          </a:bodyPr>
          <a:lstStyle/>
          <a:p>
            <a:pPr>
              <a:lnSpc>
                <a:spcPts val="7213"/>
              </a:lnSpc>
            </a:pPr>
            <a:r>
              <a:rPr lang="en-US" sz="4400" b="1" dirty="0">
                <a:solidFill>
                  <a:srgbClr val="000000"/>
                </a:solidFill>
                <a:latin typeface="Roboto"/>
                <a:ea typeface="Roboto"/>
                <a:cs typeface="Roboto"/>
                <a:sym typeface="Roboto"/>
              </a:rPr>
              <a:t>Project Goals</a:t>
            </a:r>
          </a:p>
          <a:p>
            <a:pPr>
              <a:lnSpc>
                <a:spcPts val="7213"/>
              </a:lnSpc>
            </a:pPr>
            <a:endParaRPr lang="en-US" sz="5150" dirty="0">
              <a:solidFill>
                <a:srgbClr val="000000"/>
              </a:solidFill>
              <a:latin typeface="Roboto"/>
              <a:ea typeface="Roboto"/>
              <a:cs typeface="Roboto"/>
              <a:sym typeface="Roboto"/>
            </a:endParaRPr>
          </a:p>
        </p:txBody>
      </p:sp>
      <p:sp>
        <p:nvSpPr>
          <p:cNvPr id="14" name="TextBox 14">
            <a:extLst>
              <a:ext uri="{FF2B5EF4-FFF2-40B4-BE49-F238E27FC236}">
                <a16:creationId xmlns:a16="http://schemas.microsoft.com/office/drawing/2014/main" id="{CDE3FF0D-0FAD-F155-2FF7-E6596107AF49}"/>
              </a:ext>
            </a:extLst>
          </p:cNvPr>
          <p:cNvSpPr txBox="1"/>
          <p:nvPr/>
        </p:nvSpPr>
        <p:spPr>
          <a:xfrm>
            <a:off x="1033463" y="1562100"/>
            <a:ext cx="15659100" cy="4991366"/>
          </a:xfrm>
          <a:prstGeom prst="rect">
            <a:avLst/>
          </a:prstGeom>
        </p:spPr>
        <p:txBody>
          <a:bodyPr wrap="square" lIns="0" tIns="0" rIns="0" bIns="0" rtlCol="0" anchor="t">
            <a:spAutoFit/>
          </a:bodyPr>
          <a:lstStyle/>
          <a:p>
            <a:pPr algn="just">
              <a:lnSpc>
                <a:spcPts val="2976"/>
              </a:lnSpc>
              <a:spcBef>
                <a:spcPct val="0"/>
              </a:spcBef>
            </a:pPr>
            <a:r>
              <a:rPr lang="en-US" sz="2400" dirty="0">
                <a:solidFill>
                  <a:srgbClr val="000000"/>
                </a:solidFill>
                <a:latin typeface="Poppins"/>
                <a:ea typeface="Poppins"/>
                <a:cs typeface="Poppins"/>
                <a:sym typeface="Poppins"/>
              </a:rPr>
              <a:t>This report has been developed to analyze Tech Nova’s sales performance from 2020 to 2024 to provides comprehensive insights to support the Tech Nova internal team in enhancing overall sales performance. </a:t>
            </a:r>
          </a:p>
          <a:p>
            <a:pPr algn="just">
              <a:lnSpc>
                <a:spcPts val="2976"/>
              </a:lnSpc>
              <a:spcBef>
                <a:spcPct val="0"/>
              </a:spcBef>
            </a:pPr>
            <a:endParaRPr lang="en-US" sz="2400" dirty="0">
              <a:solidFill>
                <a:srgbClr val="000000"/>
              </a:solidFill>
              <a:latin typeface="Poppins"/>
              <a:ea typeface="Poppins"/>
              <a:cs typeface="Poppins"/>
              <a:sym typeface="Poppins"/>
            </a:endParaRPr>
          </a:p>
          <a:p>
            <a:pPr algn="just">
              <a:lnSpc>
                <a:spcPts val="2976"/>
              </a:lnSpc>
              <a:spcBef>
                <a:spcPct val="0"/>
              </a:spcBef>
            </a:pPr>
            <a:r>
              <a:rPr lang="en-US" sz="2400" dirty="0">
                <a:solidFill>
                  <a:srgbClr val="000000"/>
                </a:solidFill>
                <a:latin typeface="Poppins"/>
                <a:ea typeface="Poppins"/>
                <a:cs typeface="Poppins"/>
                <a:sym typeface="Poppins"/>
              </a:rPr>
              <a:t>The key insights in this report focus on the following areas:</a:t>
            </a:r>
          </a:p>
          <a:p>
            <a:pPr algn="just">
              <a:lnSpc>
                <a:spcPts val="2976"/>
              </a:lnSpc>
              <a:spcBef>
                <a:spcPct val="0"/>
              </a:spcBef>
            </a:pPr>
            <a:endParaRPr lang="en-US" sz="2400" dirty="0">
              <a:solidFill>
                <a:srgbClr val="000000"/>
              </a:solidFill>
              <a:latin typeface="Poppins"/>
              <a:ea typeface="Poppins"/>
              <a:cs typeface="Poppins"/>
              <a:sym typeface="Poppins"/>
            </a:endParaRPr>
          </a:p>
          <a:p>
            <a:pPr marL="342909" indent="-342909" algn="just">
              <a:lnSpc>
                <a:spcPts val="2976"/>
              </a:lnSpc>
              <a:spcBef>
                <a:spcPct val="0"/>
              </a:spcBef>
              <a:buFont typeface="Arial" panose="020B0604020202020204" pitchFamily="34" charset="0"/>
              <a:buChar char="•"/>
            </a:pPr>
            <a:r>
              <a:rPr lang="en-US" sz="2400" dirty="0">
                <a:solidFill>
                  <a:srgbClr val="000000"/>
                </a:solidFill>
                <a:latin typeface="Poppins"/>
                <a:ea typeface="Poppins"/>
                <a:cs typeface="Poppins"/>
                <a:sym typeface="Poppins"/>
              </a:rPr>
              <a:t>Sales Trends: An analysis of 2020 - 2024 sales patterns, focusing on sales revenue, total orders and average order value(AOV).</a:t>
            </a:r>
          </a:p>
          <a:p>
            <a:pPr marL="342909" indent="-342909" algn="just">
              <a:lnSpc>
                <a:spcPts val="2976"/>
              </a:lnSpc>
              <a:spcBef>
                <a:spcPct val="0"/>
              </a:spcBef>
              <a:buFont typeface="Arial" panose="020B0604020202020204" pitchFamily="34" charset="0"/>
              <a:buChar char="•"/>
            </a:pPr>
            <a:r>
              <a:rPr lang="en-US" sz="2400" dirty="0">
                <a:solidFill>
                  <a:srgbClr val="000000"/>
                </a:solidFill>
                <a:latin typeface="Poppins"/>
                <a:ea typeface="Poppins"/>
                <a:cs typeface="Poppins"/>
                <a:sym typeface="Poppins"/>
              </a:rPr>
              <a:t>Product Performance: Analyze Tech Nova's various product categories, understanding the impact on sales revenue and average order value.</a:t>
            </a:r>
          </a:p>
          <a:p>
            <a:pPr marL="342909" indent="-342909" algn="just">
              <a:lnSpc>
                <a:spcPts val="2976"/>
              </a:lnSpc>
              <a:spcBef>
                <a:spcPct val="0"/>
              </a:spcBef>
              <a:buFont typeface="Arial" panose="020B0604020202020204" pitchFamily="34" charset="0"/>
              <a:buChar char="•"/>
            </a:pPr>
            <a:r>
              <a:rPr lang="en-US" sz="2400" dirty="0">
                <a:solidFill>
                  <a:srgbClr val="000000"/>
                </a:solidFill>
                <a:latin typeface="Poppins"/>
                <a:ea typeface="Poppins"/>
                <a:cs typeface="Poppins"/>
                <a:sym typeface="Poppins"/>
              </a:rPr>
              <a:t>Regional Analysis: A comprehensive assessment of sales revenue performance across all eight operating countries.</a:t>
            </a:r>
          </a:p>
          <a:p>
            <a:pPr marL="342909" indent="-342909" algn="just">
              <a:lnSpc>
                <a:spcPts val="2976"/>
              </a:lnSpc>
              <a:spcBef>
                <a:spcPct val="0"/>
              </a:spcBef>
              <a:buFont typeface="Arial" panose="020B0604020202020204" pitchFamily="34" charset="0"/>
              <a:buChar char="•"/>
            </a:pPr>
            <a:endParaRPr lang="en-US" sz="2400" dirty="0">
              <a:solidFill>
                <a:srgbClr val="000000"/>
              </a:solidFill>
              <a:latin typeface="Poppins"/>
              <a:ea typeface="Poppins"/>
              <a:cs typeface="Poppins"/>
              <a:sym typeface="Poppins"/>
            </a:endParaRPr>
          </a:p>
        </p:txBody>
      </p:sp>
    </p:spTree>
    <p:extLst>
      <p:ext uri="{BB962C8B-B14F-4D97-AF65-F5344CB8AC3E}">
        <p14:creationId xmlns:p14="http://schemas.microsoft.com/office/powerpoint/2010/main" val="671558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C7F77-922A-10A5-05C7-8109907F200A}"/>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0DAB9EF8-1B7D-15F0-9DE8-2EFEA069D2D2}"/>
              </a:ext>
            </a:extLst>
          </p:cNvPr>
          <p:cNvSpPr txBox="1"/>
          <p:nvPr/>
        </p:nvSpPr>
        <p:spPr>
          <a:xfrm>
            <a:off x="3" y="2413012"/>
            <a:ext cx="9115426" cy="1968488"/>
          </a:xfrm>
          <a:prstGeom prst="rect">
            <a:avLst/>
          </a:prstGeom>
        </p:spPr>
        <p:txBody>
          <a:bodyPr wrap="square" lIns="0" tIns="0" rIns="0" bIns="0" rtlCol="0" anchor="t">
            <a:spAutoFit/>
          </a:bodyPr>
          <a:lstStyle/>
          <a:p>
            <a:pPr algn="ctr">
              <a:lnSpc>
                <a:spcPts val="7431"/>
              </a:lnSpc>
            </a:pPr>
            <a:endParaRPr lang="en-US" sz="8000" dirty="0">
              <a:solidFill>
                <a:srgbClr val="004AAD"/>
              </a:solidFill>
              <a:latin typeface="League Spartan"/>
              <a:ea typeface="League Spartan"/>
              <a:cs typeface="League Spartan"/>
              <a:sym typeface="League Spartan"/>
            </a:endParaRPr>
          </a:p>
          <a:p>
            <a:pPr algn="ctr">
              <a:lnSpc>
                <a:spcPts val="7431"/>
              </a:lnSpc>
            </a:pPr>
            <a:r>
              <a:rPr lang="en-US" sz="8000" dirty="0">
                <a:solidFill>
                  <a:srgbClr val="004AAD"/>
                </a:solidFill>
                <a:latin typeface="League Spartan"/>
                <a:ea typeface="League Spartan"/>
                <a:cs typeface="League Spartan"/>
                <a:sym typeface="League Spartan"/>
              </a:rPr>
              <a:t>Sales Trends </a:t>
            </a:r>
          </a:p>
        </p:txBody>
      </p:sp>
      <p:pic>
        <p:nvPicPr>
          <p:cNvPr id="6" name="Picture 5">
            <a:extLst>
              <a:ext uri="{FF2B5EF4-FFF2-40B4-BE49-F238E27FC236}">
                <a16:creationId xmlns:a16="http://schemas.microsoft.com/office/drawing/2014/main" id="{4E1BFFF8-DC4D-63F4-46A9-C5D8CCF47456}"/>
              </a:ext>
            </a:extLst>
          </p:cNvPr>
          <p:cNvPicPr>
            <a:picLocks noChangeAspect="1"/>
          </p:cNvPicPr>
          <p:nvPr/>
        </p:nvPicPr>
        <p:blipFill>
          <a:blip r:embed="rId2">
            <a:extLst>
              <a:ext uri="{28A0092B-C50C-407E-A947-70E740481C1C}">
                <a14:useLocalDpi xmlns:a14="http://schemas.microsoft.com/office/drawing/2010/main" val="0"/>
              </a:ext>
            </a:extLst>
          </a:blip>
          <a:srcRect l="12632" t="18467" r="17895" b="28304"/>
          <a:stretch>
            <a:fillRect/>
          </a:stretch>
        </p:blipFill>
        <p:spPr>
          <a:xfrm>
            <a:off x="2057401" y="4381503"/>
            <a:ext cx="4780292" cy="3662530"/>
          </a:xfrm>
          <a:prstGeom prst="rect">
            <a:avLst/>
          </a:prstGeom>
        </p:spPr>
      </p:pic>
      <p:pic>
        <p:nvPicPr>
          <p:cNvPr id="7" name="Picture 5">
            <a:extLst>
              <a:ext uri="{FF2B5EF4-FFF2-40B4-BE49-F238E27FC236}">
                <a16:creationId xmlns:a16="http://schemas.microsoft.com/office/drawing/2014/main" id="{6B7976D8-1053-970E-94A1-227284E1D5BB}"/>
              </a:ext>
            </a:extLst>
          </p:cNvPr>
          <p:cNvPicPr>
            <a:picLocks noChangeAspect="1"/>
          </p:cNvPicPr>
          <p:nvPr/>
        </p:nvPicPr>
        <p:blipFill rotWithShape="1">
          <a:blip r:embed="rId3"/>
          <a:srcRect r="27496"/>
          <a:stretch/>
        </p:blipFill>
        <p:spPr>
          <a:xfrm>
            <a:off x="9115426" y="1866903"/>
            <a:ext cx="7886868" cy="7233813"/>
          </a:xfrm>
          <a:prstGeom prst="rect">
            <a:avLst/>
          </a:prstGeom>
        </p:spPr>
      </p:pic>
    </p:spTree>
    <p:extLst>
      <p:ext uri="{BB962C8B-B14F-4D97-AF65-F5344CB8AC3E}">
        <p14:creationId xmlns:p14="http://schemas.microsoft.com/office/powerpoint/2010/main" val="879552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90B5B-E1DB-740A-26ED-84A97AA02D90}"/>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686A7898-3821-831E-30C6-21B1D3B84B11}"/>
              </a:ext>
            </a:extLst>
          </p:cNvPr>
          <p:cNvSpPr txBox="1"/>
          <p:nvPr/>
        </p:nvSpPr>
        <p:spPr>
          <a:xfrm>
            <a:off x="838199" y="235027"/>
            <a:ext cx="16421100" cy="2704266"/>
          </a:xfrm>
          <a:prstGeom prst="rect">
            <a:avLst/>
          </a:prstGeom>
        </p:spPr>
        <p:txBody>
          <a:bodyPr wrap="square" lIns="0" tIns="0" rIns="0" bIns="0" rtlCol="0" anchor="t">
            <a:spAutoFit/>
          </a:bodyPr>
          <a:lstStyle/>
          <a:p>
            <a:pPr algn="just">
              <a:lnSpc>
                <a:spcPts val="7213"/>
              </a:lnSpc>
            </a:pPr>
            <a:r>
              <a:rPr lang="en-US" sz="4400" b="1" dirty="0">
                <a:solidFill>
                  <a:srgbClr val="000000"/>
                </a:solidFill>
                <a:latin typeface="Roboto"/>
                <a:ea typeface="Roboto"/>
                <a:cs typeface="Roboto"/>
                <a:sym typeface="Roboto"/>
              </a:rPr>
              <a:t>Post-Pandemic Sales Boom Peaks at $18.5M, Followed by 50% Correction in 2024.</a:t>
            </a:r>
          </a:p>
          <a:p>
            <a:pPr>
              <a:lnSpc>
                <a:spcPts val="7213"/>
              </a:lnSpc>
            </a:pPr>
            <a:endParaRPr lang="en-US" sz="5150" dirty="0">
              <a:solidFill>
                <a:srgbClr val="000000"/>
              </a:solidFill>
              <a:latin typeface="Roboto"/>
              <a:ea typeface="Roboto"/>
              <a:cs typeface="Roboto"/>
              <a:sym typeface="Roboto"/>
            </a:endParaRPr>
          </a:p>
        </p:txBody>
      </p:sp>
      <p:pic>
        <p:nvPicPr>
          <p:cNvPr id="15" name="Picture 14">
            <a:extLst>
              <a:ext uri="{FF2B5EF4-FFF2-40B4-BE49-F238E27FC236}">
                <a16:creationId xmlns:a16="http://schemas.microsoft.com/office/drawing/2014/main" id="{02E016D8-39A4-D295-D75C-7D55B44F8EC0}"/>
              </a:ext>
            </a:extLst>
          </p:cNvPr>
          <p:cNvPicPr>
            <a:picLocks noChangeAspect="1"/>
          </p:cNvPicPr>
          <p:nvPr/>
        </p:nvPicPr>
        <p:blipFill>
          <a:blip r:embed="rId2"/>
          <a:stretch>
            <a:fillRect/>
          </a:stretch>
        </p:blipFill>
        <p:spPr>
          <a:xfrm>
            <a:off x="838199" y="3009900"/>
            <a:ext cx="14814699" cy="6705600"/>
          </a:xfrm>
          <a:prstGeom prst="rect">
            <a:avLst/>
          </a:prstGeom>
        </p:spPr>
      </p:pic>
      <p:cxnSp>
        <p:nvCxnSpPr>
          <p:cNvPr id="17" name="Straight Arrow Connector 16">
            <a:extLst>
              <a:ext uri="{FF2B5EF4-FFF2-40B4-BE49-F238E27FC236}">
                <a16:creationId xmlns:a16="http://schemas.microsoft.com/office/drawing/2014/main" id="{522599CB-B02D-72B0-9B5C-710D5E38A91C}"/>
              </a:ext>
            </a:extLst>
          </p:cNvPr>
          <p:cNvCxnSpPr>
            <a:cxnSpLocks/>
          </p:cNvCxnSpPr>
          <p:nvPr/>
        </p:nvCxnSpPr>
        <p:spPr>
          <a:xfrm flipV="1">
            <a:off x="5827861" y="5447882"/>
            <a:ext cx="1219200" cy="12192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1" name="TextBox 14">
            <a:extLst>
              <a:ext uri="{FF2B5EF4-FFF2-40B4-BE49-F238E27FC236}">
                <a16:creationId xmlns:a16="http://schemas.microsoft.com/office/drawing/2014/main" id="{1039630F-1874-5BC9-9AC8-C530FCA3E412}"/>
              </a:ext>
            </a:extLst>
          </p:cNvPr>
          <p:cNvSpPr txBox="1"/>
          <p:nvPr/>
        </p:nvSpPr>
        <p:spPr>
          <a:xfrm>
            <a:off x="4645323" y="5143500"/>
            <a:ext cx="2133600" cy="749564"/>
          </a:xfrm>
          <a:prstGeom prst="rect">
            <a:avLst/>
          </a:prstGeom>
        </p:spPr>
        <p:txBody>
          <a:bodyPr wrap="square" lIns="0" tIns="0" rIns="0" bIns="0" rtlCol="0" anchor="t">
            <a:spAutoFit/>
          </a:bodyPr>
          <a:lstStyle/>
          <a:p>
            <a:pPr algn="just">
              <a:lnSpc>
                <a:spcPts val="2976"/>
              </a:lnSpc>
              <a:spcBef>
                <a:spcPct val="0"/>
              </a:spcBef>
            </a:pPr>
            <a:r>
              <a:rPr lang="en-US" sz="2124" dirty="0">
                <a:solidFill>
                  <a:srgbClr val="00B050"/>
                </a:solidFill>
                <a:latin typeface="Poppins"/>
                <a:ea typeface="Poppins"/>
                <a:cs typeface="Poppins"/>
                <a:sym typeface="Poppins"/>
              </a:rPr>
              <a:t>▲</a:t>
            </a:r>
            <a:r>
              <a:rPr lang="en-US" sz="2124" dirty="0">
                <a:latin typeface="Poppins"/>
                <a:ea typeface="Poppins"/>
                <a:cs typeface="Poppins"/>
                <a:sym typeface="Poppins"/>
              </a:rPr>
              <a:t> 75% YoY</a:t>
            </a:r>
          </a:p>
          <a:p>
            <a:pPr algn="just">
              <a:lnSpc>
                <a:spcPts val="2976"/>
              </a:lnSpc>
              <a:spcBef>
                <a:spcPct val="0"/>
              </a:spcBef>
            </a:pPr>
            <a:r>
              <a:rPr lang="en-US" sz="2124" dirty="0">
                <a:latin typeface="Poppins"/>
                <a:ea typeface="Poppins"/>
                <a:cs typeface="Poppins"/>
                <a:sym typeface="Poppins"/>
              </a:rPr>
              <a:t>Sales Growth</a:t>
            </a:r>
          </a:p>
        </p:txBody>
      </p:sp>
      <p:sp>
        <p:nvSpPr>
          <p:cNvPr id="22" name="TextBox 14">
            <a:extLst>
              <a:ext uri="{FF2B5EF4-FFF2-40B4-BE49-F238E27FC236}">
                <a16:creationId xmlns:a16="http://schemas.microsoft.com/office/drawing/2014/main" id="{38DF1159-2D47-DD23-5194-845FA29F4059}"/>
              </a:ext>
            </a:extLst>
          </p:cNvPr>
          <p:cNvSpPr txBox="1"/>
          <p:nvPr/>
        </p:nvSpPr>
        <p:spPr>
          <a:xfrm>
            <a:off x="7680697" y="3243884"/>
            <a:ext cx="2133600" cy="749564"/>
          </a:xfrm>
          <a:prstGeom prst="rect">
            <a:avLst/>
          </a:prstGeom>
        </p:spPr>
        <p:txBody>
          <a:bodyPr wrap="square" lIns="0" tIns="0" rIns="0" bIns="0" rtlCol="0" anchor="t">
            <a:spAutoFit/>
          </a:bodyPr>
          <a:lstStyle/>
          <a:p>
            <a:pPr algn="just">
              <a:lnSpc>
                <a:spcPts val="2976"/>
              </a:lnSpc>
              <a:spcBef>
                <a:spcPct val="0"/>
              </a:spcBef>
            </a:pPr>
            <a:r>
              <a:rPr lang="en-US" sz="2124" dirty="0">
                <a:solidFill>
                  <a:srgbClr val="00B050"/>
                </a:solidFill>
                <a:latin typeface="Poppins"/>
                <a:ea typeface="Poppins"/>
                <a:cs typeface="Poppins"/>
                <a:sym typeface="Poppins"/>
              </a:rPr>
              <a:t>▲ </a:t>
            </a:r>
            <a:r>
              <a:rPr lang="en-US" sz="2124" dirty="0">
                <a:latin typeface="Poppins"/>
                <a:ea typeface="Poppins"/>
                <a:cs typeface="Poppins"/>
                <a:sym typeface="Poppins"/>
              </a:rPr>
              <a:t>43% YoY</a:t>
            </a:r>
          </a:p>
          <a:p>
            <a:pPr algn="just">
              <a:lnSpc>
                <a:spcPts val="2976"/>
              </a:lnSpc>
              <a:spcBef>
                <a:spcPct val="0"/>
              </a:spcBef>
            </a:pPr>
            <a:r>
              <a:rPr lang="en-US" sz="2124" dirty="0">
                <a:latin typeface="Poppins"/>
                <a:ea typeface="Poppins"/>
                <a:cs typeface="Poppins"/>
                <a:sym typeface="Poppins"/>
              </a:rPr>
              <a:t>Sales Growth</a:t>
            </a:r>
          </a:p>
        </p:txBody>
      </p:sp>
      <p:cxnSp>
        <p:nvCxnSpPr>
          <p:cNvPr id="23" name="Straight Arrow Connector 22">
            <a:extLst>
              <a:ext uri="{FF2B5EF4-FFF2-40B4-BE49-F238E27FC236}">
                <a16:creationId xmlns:a16="http://schemas.microsoft.com/office/drawing/2014/main" id="{5DE6E7D9-9388-8D68-0C8F-F9CAB308BA44}"/>
              </a:ext>
            </a:extLst>
          </p:cNvPr>
          <p:cNvCxnSpPr>
            <a:cxnSpLocks/>
          </p:cNvCxnSpPr>
          <p:nvPr/>
        </p:nvCxnSpPr>
        <p:spPr>
          <a:xfrm flipV="1">
            <a:off x="8739410" y="3619082"/>
            <a:ext cx="1219200" cy="12192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id="{365722E8-C1E8-07E0-FD28-4CF27B6D0375}"/>
              </a:ext>
            </a:extLst>
          </p:cNvPr>
          <p:cNvCxnSpPr>
            <a:cxnSpLocks/>
          </p:cNvCxnSpPr>
          <p:nvPr/>
        </p:nvCxnSpPr>
        <p:spPr>
          <a:xfrm>
            <a:off x="12450515" y="3618667"/>
            <a:ext cx="990601" cy="150039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6" name="TextBox 14">
            <a:extLst>
              <a:ext uri="{FF2B5EF4-FFF2-40B4-BE49-F238E27FC236}">
                <a16:creationId xmlns:a16="http://schemas.microsoft.com/office/drawing/2014/main" id="{E90BFA98-55C7-31C5-03E1-CEBE9DF20E6D}"/>
              </a:ext>
            </a:extLst>
          </p:cNvPr>
          <p:cNvSpPr txBox="1"/>
          <p:nvPr/>
        </p:nvSpPr>
        <p:spPr>
          <a:xfrm>
            <a:off x="12960098" y="3243884"/>
            <a:ext cx="2133600" cy="749564"/>
          </a:xfrm>
          <a:prstGeom prst="rect">
            <a:avLst/>
          </a:prstGeom>
        </p:spPr>
        <p:txBody>
          <a:bodyPr wrap="square" lIns="0" tIns="0" rIns="0" bIns="0" rtlCol="0" anchor="t">
            <a:spAutoFit/>
          </a:bodyPr>
          <a:lstStyle/>
          <a:p>
            <a:pPr algn="just">
              <a:lnSpc>
                <a:spcPts val="2976"/>
              </a:lnSpc>
              <a:spcBef>
                <a:spcPct val="0"/>
              </a:spcBef>
            </a:pPr>
            <a:r>
              <a:rPr lang="en-US" sz="2124" dirty="0">
                <a:solidFill>
                  <a:srgbClr val="FF0000"/>
                </a:solidFill>
                <a:latin typeface="Poppins"/>
                <a:ea typeface="Poppins"/>
                <a:cs typeface="Poppins"/>
                <a:sym typeface="Poppins"/>
              </a:rPr>
              <a:t>▼</a:t>
            </a:r>
            <a:r>
              <a:rPr lang="en-US" sz="2124" dirty="0">
                <a:latin typeface="Poppins"/>
                <a:ea typeface="Poppins"/>
                <a:cs typeface="Poppins"/>
                <a:sym typeface="Poppins"/>
              </a:rPr>
              <a:t>-50% YoY</a:t>
            </a:r>
          </a:p>
          <a:p>
            <a:pPr algn="just">
              <a:lnSpc>
                <a:spcPts val="2976"/>
              </a:lnSpc>
              <a:spcBef>
                <a:spcPct val="0"/>
              </a:spcBef>
            </a:pPr>
            <a:r>
              <a:rPr lang="en-US" sz="2124" dirty="0">
                <a:latin typeface="Poppins"/>
                <a:ea typeface="Poppins"/>
                <a:cs typeface="Poppins"/>
                <a:sym typeface="Poppins"/>
              </a:rPr>
              <a:t>Sales Declined</a:t>
            </a:r>
          </a:p>
        </p:txBody>
      </p:sp>
    </p:spTree>
    <p:extLst>
      <p:ext uri="{BB962C8B-B14F-4D97-AF65-F5344CB8AC3E}">
        <p14:creationId xmlns:p14="http://schemas.microsoft.com/office/powerpoint/2010/main" val="2243892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F3CF79-E99D-7528-B443-4BE365B62F72}"/>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CA9E42B3-531B-AF80-9519-2EABAD73B357}"/>
              </a:ext>
            </a:extLst>
          </p:cNvPr>
          <p:cNvSpPr txBox="1"/>
          <p:nvPr/>
        </p:nvSpPr>
        <p:spPr>
          <a:xfrm>
            <a:off x="838201" y="169727"/>
            <a:ext cx="16421100" cy="1756891"/>
          </a:xfrm>
          <a:prstGeom prst="rect">
            <a:avLst/>
          </a:prstGeom>
        </p:spPr>
        <p:txBody>
          <a:bodyPr wrap="square" lIns="0" tIns="0" rIns="0" bIns="0" rtlCol="0" anchor="t">
            <a:spAutoFit/>
          </a:bodyPr>
          <a:lstStyle/>
          <a:p>
            <a:pPr algn="just">
              <a:lnSpc>
                <a:spcPts val="7213"/>
              </a:lnSpc>
            </a:pPr>
            <a:r>
              <a:rPr lang="en-US" sz="4400" b="1" dirty="0">
                <a:solidFill>
                  <a:srgbClr val="000000"/>
                </a:solidFill>
                <a:latin typeface="Roboto"/>
                <a:ea typeface="Roboto"/>
                <a:cs typeface="Roboto"/>
                <a:sym typeface="Roboto"/>
              </a:rPr>
              <a:t>The Impact of Economic Slowdown and Demand Stabilization in 2024.</a:t>
            </a:r>
          </a:p>
        </p:txBody>
      </p:sp>
      <p:sp>
        <p:nvSpPr>
          <p:cNvPr id="8" name="TextBox 14">
            <a:extLst>
              <a:ext uri="{FF2B5EF4-FFF2-40B4-BE49-F238E27FC236}">
                <a16:creationId xmlns:a16="http://schemas.microsoft.com/office/drawing/2014/main" id="{A617C090-B50B-6C3B-71C5-C0E8D3D7522A}"/>
              </a:ext>
            </a:extLst>
          </p:cNvPr>
          <p:cNvSpPr txBox="1"/>
          <p:nvPr/>
        </p:nvSpPr>
        <p:spPr>
          <a:xfrm>
            <a:off x="9605962" y="3107724"/>
            <a:ext cx="7810500" cy="4592283"/>
          </a:xfrm>
          <a:prstGeom prst="rect">
            <a:avLst/>
          </a:prstGeom>
        </p:spPr>
        <p:txBody>
          <a:bodyPr wrap="square" lIns="0" tIns="0" rIns="0" bIns="0" rtlCol="0" anchor="t">
            <a:spAutoFit/>
          </a:bodyPr>
          <a:lstStyle/>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Monthly sales revenue in 2022 and 2023 consistently outperformed the average monthly sales benchmark of $0.9M – indicating  shift in consumer behavior that lead to higher demand for electronic products.</a:t>
            </a:r>
          </a:p>
          <a:p>
            <a:pPr marL="342909" indent="-342909" algn="just">
              <a:lnSpc>
                <a:spcPts val="2976"/>
              </a:lnSpc>
              <a:spcBef>
                <a:spcPct val="0"/>
              </a:spcBef>
              <a:buFont typeface="Wingdings" panose="05000000000000000000" pitchFamily="2" charset="2"/>
              <a:buChar char="q"/>
            </a:pPr>
            <a:endParaRPr lang="en-US" sz="2000" dirty="0">
              <a:solidFill>
                <a:srgbClr val="000000"/>
              </a:solidFill>
              <a:latin typeface="Poppins"/>
              <a:ea typeface="Poppins"/>
              <a:cs typeface="Poppins"/>
              <a:sym typeface="Poppins"/>
            </a:endParaRP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The highest monthly sales was recorded  in December 2023, reaching $2.4M, which is nearly 2.7 times above the average monthly sales of $0.9M.</a:t>
            </a:r>
          </a:p>
          <a:p>
            <a:pPr marL="342909" indent="-342909" algn="just">
              <a:lnSpc>
                <a:spcPts val="2976"/>
              </a:lnSpc>
              <a:spcBef>
                <a:spcPct val="0"/>
              </a:spcBef>
              <a:buFont typeface="Wingdings" panose="05000000000000000000" pitchFamily="2" charset="2"/>
              <a:buChar char="q"/>
            </a:pPr>
            <a:endParaRPr lang="en-US" sz="2000" dirty="0">
              <a:solidFill>
                <a:srgbClr val="000000"/>
              </a:solidFill>
              <a:latin typeface="Poppins"/>
              <a:ea typeface="Poppins"/>
              <a:cs typeface="Poppins"/>
              <a:sym typeface="Poppins"/>
            </a:endParaRP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Sales began to decline in early 2024 and continued to fall throughout each quarter – largely due to an economic slowdown  and demand stabilized for electronic products.</a:t>
            </a:r>
          </a:p>
        </p:txBody>
      </p:sp>
      <p:pic>
        <p:nvPicPr>
          <p:cNvPr id="12" name="Picture 11">
            <a:extLst>
              <a:ext uri="{FF2B5EF4-FFF2-40B4-BE49-F238E27FC236}">
                <a16:creationId xmlns:a16="http://schemas.microsoft.com/office/drawing/2014/main" id="{295AE140-8C0E-F876-B98C-81B7859E3E9D}"/>
              </a:ext>
            </a:extLst>
          </p:cNvPr>
          <p:cNvPicPr>
            <a:picLocks noChangeAspect="1"/>
          </p:cNvPicPr>
          <p:nvPr/>
        </p:nvPicPr>
        <p:blipFill>
          <a:blip r:embed="rId2"/>
          <a:stretch>
            <a:fillRect/>
          </a:stretch>
        </p:blipFill>
        <p:spPr>
          <a:xfrm>
            <a:off x="838201" y="3126771"/>
            <a:ext cx="8577262" cy="5233611"/>
          </a:xfrm>
          <a:prstGeom prst="rect">
            <a:avLst/>
          </a:prstGeom>
        </p:spPr>
      </p:pic>
      <p:sp>
        <p:nvSpPr>
          <p:cNvPr id="14" name="Oval 13">
            <a:extLst>
              <a:ext uri="{FF2B5EF4-FFF2-40B4-BE49-F238E27FC236}">
                <a16:creationId xmlns:a16="http://schemas.microsoft.com/office/drawing/2014/main" id="{16ABFCBA-C7D3-0A70-CE7F-057118028BE6}"/>
              </a:ext>
            </a:extLst>
          </p:cNvPr>
          <p:cNvSpPr/>
          <p:nvPr/>
        </p:nvSpPr>
        <p:spPr>
          <a:xfrm>
            <a:off x="7467602" y="4000501"/>
            <a:ext cx="1947865" cy="4191001"/>
          </a:xfrm>
          <a:prstGeom prst="ellipse">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MY" sz="1801"/>
          </a:p>
        </p:txBody>
      </p:sp>
    </p:spTree>
    <p:extLst>
      <p:ext uri="{BB962C8B-B14F-4D97-AF65-F5344CB8AC3E}">
        <p14:creationId xmlns:p14="http://schemas.microsoft.com/office/powerpoint/2010/main" val="2602626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8F01D-31E9-1C49-4342-B15C31893187}"/>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365C40D0-982B-0D1A-DD7B-04D20309780F}"/>
              </a:ext>
            </a:extLst>
          </p:cNvPr>
          <p:cNvSpPr txBox="1"/>
          <p:nvPr/>
        </p:nvSpPr>
        <p:spPr>
          <a:xfrm>
            <a:off x="1028703" y="190086"/>
            <a:ext cx="16116300" cy="1756891"/>
          </a:xfrm>
          <a:prstGeom prst="rect">
            <a:avLst/>
          </a:prstGeom>
        </p:spPr>
        <p:txBody>
          <a:bodyPr wrap="square" lIns="0" tIns="0" rIns="0" bIns="0" rtlCol="0" anchor="t">
            <a:spAutoFit/>
          </a:bodyPr>
          <a:lstStyle/>
          <a:p>
            <a:pPr algn="just">
              <a:lnSpc>
                <a:spcPts val="7213"/>
              </a:lnSpc>
            </a:pPr>
            <a:r>
              <a:rPr lang="en-US" sz="4400" b="1" dirty="0">
                <a:solidFill>
                  <a:srgbClr val="000000"/>
                </a:solidFill>
                <a:latin typeface="Roboto"/>
                <a:ea typeface="Roboto"/>
                <a:cs typeface="Roboto"/>
                <a:sym typeface="Roboto"/>
              </a:rPr>
              <a:t>Order volume fluctuated while AOV stabilized, Indicating Total Orders are the Primary driver for Sales performances</a:t>
            </a:r>
          </a:p>
        </p:txBody>
      </p:sp>
      <p:sp>
        <p:nvSpPr>
          <p:cNvPr id="8" name="TextBox 14">
            <a:extLst>
              <a:ext uri="{FF2B5EF4-FFF2-40B4-BE49-F238E27FC236}">
                <a16:creationId xmlns:a16="http://schemas.microsoft.com/office/drawing/2014/main" id="{673C3266-723D-DA41-F875-B3D43D56B5E1}"/>
              </a:ext>
            </a:extLst>
          </p:cNvPr>
          <p:cNvSpPr txBox="1"/>
          <p:nvPr/>
        </p:nvSpPr>
        <p:spPr>
          <a:xfrm>
            <a:off x="938218" y="7353304"/>
            <a:ext cx="6776389" cy="1899238"/>
          </a:xfrm>
          <a:prstGeom prst="rect">
            <a:avLst/>
          </a:prstGeom>
        </p:spPr>
        <p:txBody>
          <a:bodyPr wrap="square" lIns="0" tIns="0" rIns="0" bIns="0" rtlCol="0" anchor="t">
            <a:spAutoFit/>
          </a:bodyPr>
          <a:lstStyle/>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Closely follows the sales trends.</a:t>
            </a: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Peak same as sales trends in Dec 2023 with total order of 1237.</a:t>
            </a: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Total Orders began to decline in 2024, reaching only 288 total orders by the end of 2024.</a:t>
            </a:r>
          </a:p>
        </p:txBody>
      </p:sp>
      <p:pic>
        <p:nvPicPr>
          <p:cNvPr id="3" name="Picture 2">
            <a:extLst>
              <a:ext uri="{FF2B5EF4-FFF2-40B4-BE49-F238E27FC236}">
                <a16:creationId xmlns:a16="http://schemas.microsoft.com/office/drawing/2014/main" id="{E5A2AC71-22F5-E9A9-652F-A898423015F2}"/>
              </a:ext>
            </a:extLst>
          </p:cNvPr>
          <p:cNvPicPr>
            <a:picLocks noChangeAspect="1"/>
          </p:cNvPicPr>
          <p:nvPr/>
        </p:nvPicPr>
        <p:blipFill>
          <a:blip r:embed="rId2"/>
          <a:stretch>
            <a:fillRect/>
          </a:stretch>
        </p:blipFill>
        <p:spPr>
          <a:xfrm>
            <a:off x="1028703" y="3195637"/>
            <a:ext cx="6776389" cy="3469625"/>
          </a:xfrm>
          <a:prstGeom prst="rect">
            <a:avLst/>
          </a:prstGeom>
        </p:spPr>
      </p:pic>
      <p:sp>
        <p:nvSpPr>
          <p:cNvPr id="6" name="TextBox 14">
            <a:extLst>
              <a:ext uri="{FF2B5EF4-FFF2-40B4-BE49-F238E27FC236}">
                <a16:creationId xmlns:a16="http://schemas.microsoft.com/office/drawing/2014/main" id="{9D1317E0-B655-A583-CFF3-C4E21FA099B4}"/>
              </a:ext>
            </a:extLst>
          </p:cNvPr>
          <p:cNvSpPr txBox="1"/>
          <p:nvPr/>
        </p:nvSpPr>
        <p:spPr>
          <a:xfrm>
            <a:off x="9372606" y="7353303"/>
            <a:ext cx="6776389" cy="1899238"/>
          </a:xfrm>
          <a:prstGeom prst="rect">
            <a:avLst/>
          </a:prstGeom>
        </p:spPr>
        <p:txBody>
          <a:bodyPr wrap="square" lIns="0" tIns="0" rIns="0" bIns="0" rtlCol="0" anchor="t">
            <a:spAutoFit/>
          </a:bodyPr>
          <a:lstStyle/>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 Remained consistent within the range of $1.5K to $3.2K from 2022 to 2024</a:t>
            </a: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The highest Average Order Value (AOV) was recorded in April 2024 at $3.2K, while the lowest occurred in October 2024 at $1.5K.</a:t>
            </a:r>
          </a:p>
        </p:txBody>
      </p:sp>
      <p:pic>
        <p:nvPicPr>
          <p:cNvPr id="9" name="Picture 8">
            <a:extLst>
              <a:ext uri="{FF2B5EF4-FFF2-40B4-BE49-F238E27FC236}">
                <a16:creationId xmlns:a16="http://schemas.microsoft.com/office/drawing/2014/main" id="{92927347-A302-823A-ED33-86EA82C93BB7}"/>
              </a:ext>
            </a:extLst>
          </p:cNvPr>
          <p:cNvPicPr>
            <a:picLocks noChangeAspect="1"/>
          </p:cNvPicPr>
          <p:nvPr/>
        </p:nvPicPr>
        <p:blipFill>
          <a:blip r:embed="rId3"/>
          <a:stretch>
            <a:fillRect/>
          </a:stretch>
        </p:blipFill>
        <p:spPr>
          <a:xfrm>
            <a:off x="9363081" y="3195637"/>
            <a:ext cx="6776389" cy="3469625"/>
          </a:xfrm>
          <a:prstGeom prst="rect">
            <a:avLst/>
          </a:prstGeom>
        </p:spPr>
      </p:pic>
    </p:spTree>
    <p:extLst>
      <p:ext uri="{BB962C8B-B14F-4D97-AF65-F5344CB8AC3E}">
        <p14:creationId xmlns:p14="http://schemas.microsoft.com/office/powerpoint/2010/main" val="4091645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CBC069-D0A0-662D-BF4B-224C99B30153}"/>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E560AFB5-3BBB-E141-2860-D1D909E2684F}"/>
              </a:ext>
            </a:extLst>
          </p:cNvPr>
          <p:cNvSpPr txBox="1"/>
          <p:nvPr/>
        </p:nvSpPr>
        <p:spPr>
          <a:xfrm>
            <a:off x="38100" y="1277058"/>
            <a:ext cx="9115426" cy="3866443"/>
          </a:xfrm>
          <a:prstGeom prst="rect">
            <a:avLst/>
          </a:prstGeom>
        </p:spPr>
        <p:txBody>
          <a:bodyPr wrap="square" lIns="0" tIns="0" rIns="0" bIns="0" rtlCol="0" anchor="t">
            <a:spAutoFit/>
          </a:bodyPr>
          <a:lstStyle/>
          <a:p>
            <a:pPr algn="ctr">
              <a:lnSpc>
                <a:spcPts val="7431"/>
              </a:lnSpc>
            </a:pPr>
            <a:endParaRPr lang="en-US" sz="8000" dirty="0">
              <a:solidFill>
                <a:srgbClr val="004AAD"/>
              </a:solidFill>
              <a:latin typeface="League Spartan"/>
              <a:ea typeface="League Spartan"/>
              <a:cs typeface="League Spartan"/>
              <a:sym typeface="League Spartan"/>
            </a:endParaRPr>
          </a:p>
          <a:p>
            <a:pPr algn="ctr">
              <a:lnSpc>
                <a:spcPts val="7431"/>
              </a:lnSpc>
            </a:pPr>
            <a:r>
              <a:rPr lang="en-US" sz="8000" dirty="0">
                <a:solidFill>
                  <a:srgbClr val="004AAD"/>
                </a:solidFill>
                <a:latin typeface="League Spartan"/>
                <a:ea typeface="League Spartan"/>
                <a:cs typeface="League Spartan"/>
                <a:sym typeface="League Spartan"/>
              </a:rPr>
              <a:t>Product Category Demands </a:t>
            </a:r>
          </a:p>
        </p:txBody>
      </p:sp>
      <p:pic>
        <p:nvPicPr>
          <p:cNvPr id="6" name="Picture 5">
            <a:extLst>
              <a:ext uri="{FF2B5EF4-FFF2-40B4-BE49-F238E27FC236}">
                <a16:creationId xmlns:a16="http://schemas.microsoft.com/office/drawing/2014/main" id="{45653A4C-473F-3395-DDD3-350A8F4E84B8}"/>
              </a:ext>
            </a:extLst>
          </p:cNvPr>
          <p:cNvPicPr>
            <a:picLocks noChangeAspect="1"/>
          </p:cNvPicPr>
          <p:nvPr/>
        </p:nvPicPr>
        <p:blipFill>
          <a:blip r:embed="rId2">
            <a:extLst>
              <a:ext uri="{28A0092B-C50C-407E-A947-70E740481C1C}">
                <a14:useLocalDpi xmlns:a14="http://schemas.microsoft.com/office/drawing/2010/main" val="0"/>
              </a:ext>
            </a:extLst>
          </a:blip>
          <a:srcRect l="12632" t="18467" r="17895" b="28304"/>
          <a:stretch>
            <a:fillRect/>
          </a:stretch>
        </p:blipFill>
        <p:spPr>
          <a:xfrm>
            <a:off x="2057401" y="4381503"/>
            <a:ext cx="4780292" cy="3662530"/>
          </a:xfrm>
          <a:prstGeom prst="rect">
            <a:avLst/>
          </a:prstGeom>
        </p:spPr>
      </p:pic>
      <p:pic>
        <p:nvPicPr>
          <p:cNvPr id="7" name="Picture 5">
            <a:extLst>
              <a:ext uri="{FF2B5EF4-FFF2-40B4-BE49-F238E27FC236}">
                <a16:creationId xmlns:a16="http://schemas.microsoft.com/office/drawing/2014/main" id="{F5AFF724-B8EB-F374-C78F-3BFE21F44DC3}"/>
              </a:ext>
            </a:extLst>
          </p:cNvPr>
          <p:cNvPicPr>
            <a:picLocks noChangeAspect="1"/>
          </p:cNvPicPr>
          <p:nvPr/>
        </p:nvPicPr>
        <p:blipFill rotWithShape="1">
          <a:blip r:embed="rId3"/>
          <a:srcRect r="27496"/>
          <a:stretch/>
        </p:blipFill>
        <p:spPr>
          <a:xfrm>
            <a:off x="9115426" y="1866903"/>
            <a:ext cx="7886868" cy="7233813"/>
          </a:xfrm>
          <a:prstGeom prst="rect">
            <a:avLst/>
          </a:prstGeom>
        </p:spPr>
      </p:pic>
    </p:spTree>
    <p:extLst>
      <p:ext uri="{BB962C8B-B14F-4D97-AF65-F5344CB8AC3E}">
        <p14:creationId xmlns:p14="http://schemas.microsoft.com/office/powerpoint/2010/main" val="8255180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2675D-AA64-943A-BC3D-900EFDECD91C}"/>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C1EA4E27-59C4-7687-7D23-49F93FF825EC}"/>
              </a:ext>
            </a:extLst>
          </p:cNvPr>
          <p:cNvSpPr txBox="1"/>
          <p:nvPr/>
        </p:nvSpPr>
        <p:spPr>
          <a:xfrm>
            <a:off x="933450" y="190500"/>
            <a:ext cx="16421100" cy="1756891"/>
          </a:xfrm>
          <a:prstGeom prst="rect">
            <a:avLst/>
          </a:prstGeom>
        </p:spPr>
        <p:txBody>
          <a:bodyPr wrap="square" lIns="0" tIns="0" rIns="0" bIns="0" rtlCol="0" anchor="t">
            <a:spAutoFit/>
          </a:bodyPr>
          <a:lstStyle/>
          <a:p>
            <a:pPr algn="just">
              <a:lnSpc>
                <a:spcPts val="7213"/>
              </a:lnSpc>
            </a:pPr>
            <a:r>
              <a:rPr lang="en-US" sz="4400" b="1" dirty="0">
                <a:solidFill>
                  <a:srgbClr val="FF0000"/>
                </a:solidFill>
                <a:latin typeface="Roboto"/>
                <a:ea typeface="Roboto"/>
                <a:cs typeface="Roboto"/>
                <a:sym typeface="Roboto"/>
              </a:rPr>
              <a:t>Computers</a:t>
            </a:r>
            <a:r>
              <a:rPr lang="en-US" sz="4400" b="1" dirty="0">
                <a:solidFill>
                  <a:srgbClr val="000000"/>
                </a:solidFill>
                <a:latin typeface="Roboto"/>
                <a:ea typeface="Roboto"/>
                <a:cs typeface="Roboto"/>
                <a:sym typeface="Roboto"/>
              </a:rPr>
              <a:t> products fueled the 2023 sales uptrend, but not sustained at high level.</a:t>
            </a:r>
          </a:p>
        </p:txBody>
      </p:sp>
      <p:sp>
        <p:nvSpPr>
          <p:cNvPr id="8" name="TextBox 14">
            <a:extLst>
              <a:ext uri="{FF2B5EF4-FFF2-40B4-BE49-F238E27FC236}">
                <a16:creationId xmlns:a16="http://schemas.microsoft.com/office/drawing/2014/main" id="{93941FAF-E002-6CF3-AF4F-CA9ECEFF03C9}"/>
              </a:ext>
            </a:extLst>
          </p:cNvPr>
          <p:cNvSpPr txBox="1"/>
          <p:nvPr/>
        </p:nvSpPr>
        <p:spPr>
          <a:xfrm>
            <a:off x="10325099" y="2588377"/>
            <a:ext cx="7053262" cy="7670048"/>
          </a:xfrm>
          <a:prstGeom prst="rect">
            <a:avLst/>
          </a:prstGeom>
        </p:spPr>
        <p:txBody>
          <a:bodyPr wrap="square" lIns="0" tIns="0" rIns="0" bIns="0" rtlCol="0" anchor="t">
            <a:spAutoFit/>
          </a:bodyPr>
          <a:lstStyle/>
          <a:p>
            <a:pPr marL="342909" indent="-342909" algn="just">
              <a:lnSpc>
                <a:spcPts val="2976"/>
              </a:lnSpc>
              <a:spcBef>
                <a:spcPct val="0"/>
              </a:spcBef>
              <a:buFont typeface="Wingdings" panose="05000000000000000000" pitchFamily="2" charset="2"/>
              <a:buChar char="q"/>
            </a:pPr>
            <a:r>
              <a:rPr lang="en-US" sz="2000" dirty="0">
                <a:latin typeface="Poppins"/>
                <a:ea typeface="Poppins"/>
                <a:cs typeface="Poppins"/>
                <a:sym typeface="Poppins"/>
              </a:rPr>
              <a:t> </a:t>
            </a:r>
            <a:r>
              <a:rPr lang="en-US" sz="2000" dirty="0">
                <a:solidFill>
                  <a:srgbClr val="FF0000"/>
                </a:solidFill>
                <a:latin typeface="Poppins"/>
                <a:ea typeface="Poppins"/>
                <a:cs typeface="Poppins"/>
                <a:sym typeface="Poppins"/>
              </a:rPr>
              <a:t>Computers</a:t>
            </a:r>
            <a:r>
              <a:rPr lang="en-US" sz="2000" dirty="0">
                <a:solidFill>
                  <a:srgbClr val="000000"/>
                </a:solidFill>
                <a:latin typeface="Poppins"/>
                <a:ea typeface="Poppins"/>
                <a:cs typeface="Poppins"/>
                <a:sym typeface="Poppins"/>
              </a:rPr>
              <a:t> products consistently have been the top-performing category year 2021-2024.</a:t>
            </a:r>
          </a:p>
          <a:p>
            <a:pPr marL="800120" lvl="1" indent="-342909" algn="just">
              <a:lnSpc>
                <a:spcPts val="2976"/>
              </a:lnSpc>
              <a:spcBef>
                <a:spcPct val="0"/>
              </a:spcBef>
              <a:buFont typeface="Wingdings" panose="05000000000000000000" pitchFamily="2" charset="2"/>
              <a:buChar char="Ø"/>
            </a:pPr>
            <a:r>
              <a:rPr lang="en-US" sz="2000" dirty="0">
                <a:solidFill>
                  <a:srgbClr val="000000"/>
                </a:solidFill>
                <a:latin typeface="Poppins"/>
                <a:ea typeface="Poppins"/>
                <a:cs typeface="Poppins"/>
                <a:sym typeface="Poppins"/>
              </a:rPr>
              <a:t>Sales share growth from 12%(2020) to 40%(2024).</a:t>
            </a:r>
          </a:p>
          <a:p>
            <a:pPr marL="800120" lvl="1" indent="-342909" algn="just">
              <a:lnSpc>
                <a:spcPts val="2976"/>
              </a:lnSpc>
              <a:spcBef>
                <a:spcPct val="0"/>
              </a:spcBef>
              <a:buFont typeface="Wingdings" panose="05000000000000000000" pitchFamily="2" charset="2"/>
              <a:buChar char="Ø"/>
            </a:pPr>
            <a:r>
              <a:rPr lang="en-US" sz="2000" dirty="0">
                <a:solidFill>
                  <a:srgbClr val="000000"/>
                </a:solidFill>
                <a:latin typeface="Poppins"/>
                <a:ea typeface="Poppins"/>
                <a:cs typeface="Poppins"/>
                <a:sym typeface="Poppins"/>
              </a:rPr>
              <a:t>Overall total sales revenue at $19.5M across 2020-2024.</a:t>
            </a:r>
          </a:p>
          <a:p>
            <a:pPr lvl="1" algn="just">
              <a:lnSpc>
                <a:spcPts val="2976"/>
              </a:lnSpc>
              <a:spcBef>
                <a:spcPct val="0"/>
              </a:spcBef>
            </a:pPr>
            <a:endParaRPr lang="en-US" sz="2000" dirty="0">
              <a:solidFill>
                <a:srgbClr val="000000"/>
              </a:solidFill>
              <a:latin typeface="Poppins"/>
              <a:ea typeface="Poppins"/>
              <a:cs typeface="Poppins"/>
              <a:sym typeface="Poppins"/>
            </a:endParaRP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Despite being among the bottom three in total orders, the </a:t>
            </a:r>
            <a:r>
              <a:rPr lang="en-US" sz="2000" dirty="0">
                <a:solidFill>
                  <a:schemeClr val="bg2">
                    <a:lumMod val="50000"/>
                  </a:schemeClr>
                </a:solidFill>
                <a:latin typeface="Poppins"/>
                <a:ea typeface="Poppins"/>
                <a:cs typeface="Poppins"/>
                <a:sym typeface="Poppins"/>
              </a:rPr>
              <a:t>Home Appliances </a:t>
            </a:r>
            <a:r>
              <a:rPr lang="en-US" sz="2000" dirty="0">
                <a:solidFill>
                  <a:srgbClr val="000000"/>
                </a:solidFill>
                <a:latin typeface="Poppins"/>
                <a:ea typeface="Poppins"/>
                <a:cs typeface="Poppins"/>
                <a:sym typeface="Poppins"/>
              </a:rPr>
              <a:t>category generated approximately $10M in sales, making it the second-highest revenue contributor.</a:t>
            </a:r>
          </a:p>
          <a:p>
            <a:pPr marL="342909" indent="-342909" algn="just">
              <a:lnSpc>
                <a:spcPts val="2976"/>
              </a:lnSpc>
              <a:spcBef>
                <a:spcPct val="0"/>
              </a:spcBef>
              <a:buFont typeface="Wingdings" panose="05000000000000000000" pitchFamily="2" charset="2"/>
              <a:buChar char="q"/>
            </a:pPr>
            <a:endParaRPr lang="en-US" sz="2000" dirty="0">
              <a:solidFill>
                <a:srgbClr val="000000"/>
              </a:solidFill>
              <a:latin typeface="Poppins"/>
              <a:ea typeface="Poppins"/>
              <a:cs typeface="Poppins"/>
              <a:sym typeface="Poppins"/>
            </a:endParaRP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 </a:t>
            </a:r>
            <a:r>
              <a:rPr lang="en-US" sz="2000" dirty="0">
                <a:solidFill>
                  <a:srgbClr val="00B050"/>
                </a:solidFill>
                <a:latin typeface="Poppins"/>
                <a:ea typeface="Poppins"/>
                <a:cs typeface="Poppins"/>
                <a:sym typeface="Poppins"/>
              </a:rPr>
              <a:t>Cell Phones</a:t>
            </a:r>
            <a:r>
              <a:rPr lang="en-US" sz="2000" dirty="0">
                <a:solidFill>
                  <a:srgbClr val="000000"/>
                </a:solidFill>
                <a:latin typeface="Poppins"/>
                <a:ea typeface="Poppins"/>
                <a:cs typeface="Poppins"/>
                <a:sym typeface="Poppins"/>
              </a:rPr>
              <a:t>, </a:t>
            </a:r>
            <a:r>
              <a:rPr lang="en-US" sz="2000" dirty="0">
                <a:solidFill>
                  <a:srgbClr val="92D050"/>
                </a:solidFill>
                <a:latin typeface="Poppins"/>
                <a:ea typeface="Poppins"/>
                <a:cs typeface="Poppins"/>
                <a:sym typeface="Poppins"/>
              </a:rPr>
              <a:t>Tv &amp; Video </a:t>
            </a:r>
            <a:r>
              <a:rPr lang="en-US" sz="2000" dirty="0">
                <a:solidFill>
                  <a:srgbClr val="000000"/>
                </a:solidFill>
                <a:latin typeface="Poppins"/>
                <a:ea typeface="Poppins"/>
                <a:cs typeface="Poppins"/>
                <a:sym typeface="Poppins"/>
              </a:rPr>
              <a:t>and </a:t>
            </a:r>
            <a:r>
              <a:rPr lang="en-US" sz="2000" dirty="0">
                <a:solidFill>
                  <a:schemeClr val="accent6">
                    <a:lumMod val="75000"/>
                  </a:schemeClr>
                </a:solidFill>
                <a:latin typeface="Poppins"/>
                <a:ea typeface="Poppins"/>
                <a:cs typeface="Poppins"/>
                <a:sym typeface="Poppins"/>
              </a:rPr>
              <a:t>Camera &amp; recorders </a:t>
            </a:r>
            <a:r>
              <a:rPr lang="en-US" sz="2000" dirty="0">
                <a:solidFill>
                  <a:srgbClr val="000000"/>
                </a:solidFill>
                <a:latin typeface="Poppins"/>
                <a:ea typeface="Poppins"/>
                <a:cs typeface="Poppins"/>
                <a:sym typeface="Poppins"/>
              </a:rPr>
              <a:t>are mid performers with strong growth until 2023, but show a decline in 2024.</a:t>
            </a:r>
          </a:p>
          <a:p>
            <a:pPr marL="342909" indent="-342909" algn="just">
              <a:lnSpc>
                <a:spcPts val="2976"/>
              </a:lnSpc>
              <a:spcBef>
                <a:spcPct val="0"/>
              </a:spcBef>
              <a:buFont typeface="Wingdings" panose="05000000000000000000" pitchFamily="2" charset="2"/>
              <a:buChar char="q"/>
            </a:pPr>
            <a:endParaRPr lang="en-US" sz="2000" dirty="0">
              <a:solidFill>
                <a:srgbClr val="000000"/>
              </a:solidFill>
              <a:latin typeface="Poppins"/>
              <a:ea typeface="Poppins"/>
              <a:cs typeface="Poppins"/>
              <a:sym typeface="Poppins"/>
            </a:endParaRP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All other product categories are considered laggards, with each contributing less than $1.5M per year.</a:t>
            </a:r>
          </a:p>
          <a:p>
            <a:pPr marL="342909" indent="-342909" algn="just">
              <a:lnSpc>
                <a:spcPts val="2976"/>
              </a:lnSpc>
              <a:spcBef>
                <a:spcPct val="0"/>
              </a:spcBef>
              <a:buFont typeface="Wingdings" panose="05000000000000000000" pitchFamily="2" charset="2"/>
              <a:buChar char="q"/>
            </a:pPr>
            <a:endParaRPr lang="en-US" sz="2000" dirty="0">
              <a:solidFill>
                <a:srgbClr val="000000"/>
              </a:solidFill>
              <a:latin typeface="Poppins"/>
              <a:ea typeface="Poppins"/>
              <a:cs typeface="Poppins"/>
              <a:sym typeface="Poppins"/>
            </a:endParaRPr>
          </a:p>
          <a:p>
            <a:pPr marL="342909" indent="-342909" algn="just">
              <a:lnSpc>
                <a:spcPts val="2976"/>
              </a:lnSpc>
              <a:spcBef>
                <a:spcPct val="0"/>
              </a:spcBef>
              <a:buFont typeface="Wingdings" panose="05000000000000000000" pitchFamily="2" charset="2"/>
              <a:buChar char="q"/>
            </a:pPr>
            <a:endParaRPr lang="en-US" sz="2000" dirty="0">
              <a:solidFill>
                <a:srgbClr val="000000"/>
              </a:solidFill>
              <a:latin typeface="Poppins"/>
              <a:ea typeface="Poppins"/>
              <a:cs typeface="Poppins"/>
              <a:sym typeface="Poppins"/>
            </a:endParaRPr>
          </a:p>
        </p:txBody>
      </p:sp>
      <p:pic>
        <p:nvPicPr>
          <p:cNvPr id="7" name="Picture 6">
            <a:extLst>
              <a:ext uri="{FF2B5EF4-FFF2-40B4-BE49-F238E27FC236}">
                <a16:creationId xmlns:a16="http://schemas.microsoft.com/office/drawing/2014/main" id="{D933D598-DBFB-DDB1-3BAF-F392599D9300}"/>
              </a:ext>
            </a:extLst>
          </p:cNvPr>
          <p:cNvPicPr>
            <a:picLocks noChangeAspect="1"/>
          </p:cNvPicPr>
          <p:nvPr/>
        </p:nvPicPr>
        <p:blipFill>
          <a:blip r:embed="rId2"/>
          <a:stretch>
            <a:fillRect/>
          </a:stretch>
        </p:blipFill>
        <p:spPr>
          <a:xfrm>
            <a:off x="876301" y="2641027"/>
            <a:ext cx="9216178" cy="3256637"/>
          </a:xfrm>
          <a:prstGeom prst="rect">
            <a:avLst/>
          </a:prstGeom>
        </p:spPr>
      </p:pic>
      <p:pic>
        <p:nvPicPr>
          <p:cNvPr id="9" name="Picture 8">
            <a:extLst>
              <a:ext uri="{FF2B5EF4-FFF2-40B4-BE49-F238E27FC236}">
                <a16:creationId xmlns:a16="http://schemas.microsoft.com/office/drawing/2014/main" id="{5234CEC3-6887-7F2E-0E88-38BCE144F6E0}"/>
              </a:ext>
            </a:extLst>
          </p:cNvPr>
          <p:cNvPicPr>
            <a:picLocks noChangeAspect="1"/>
          </p:cNvPicPr>
          <p:nvPr/>
        </p:nvPicPr>
        <p:blipFill>
          <a:blip r:embed="rId3"/>
          <a:srcRect t="3529"/>
          <a:stretch>
            <a:fillRect/>
          </a:stretch>
        </p:blipFill>
        <p:spPr>
          <a:xfrm>
            <a:off x="971284" y="6438900"/>
            <a:ext cx="9026212" cy="3505200"/>
          </a:xfrm>
          <a:prstGeom prst="rect">
            <a:avLst/>
          </a:prstGeom>
        </p:spPr>
      </p:pic>
    </p:spTree>
    <p:extLst>
      <p:ext uri="{BB962C8B-B14F-4D97-AF65-F5344CB8AC3E}">
        <p14:creationId xmlns:p14="http://schemas.microsoft.com/office/powerpoint/2010/main" val="1451105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D7ECE-8AA9-6A44-F4BC-BBE4EDB2699E}"/>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B80A1B9E-BF9D-0C7F-D7D9-D232DFEEC4C6}"/>
              </a:ext>
            </a:extLst>
          </p:cNvPr>
          <p:cNvSpPr txBox="1"/>
          <p:nvPr/>
        </p:nvSpPr>
        <p:spPr>
          <a:xfrm>
            <a:off x="842963" y="124533"/>
            <a:ext cx="16421100" cy="1756891"/>
          </a:xfrm>
          <a:prstGeom prst="rect">
            <a:avLst/>
          </a:prstGeom>
        </p:spPr>
        <p:txBody>
          <a:bodyPr wrap="square" lIns="0" tIns="0" rIns="0" bIns="0" rtlCol="0" anchor="t">
            <a:spAutoFit/>
          </a:bodyPr>
          <a:lstStyle/>
          <a:p>
            <a:pPr algn="just">
              <a:lnSpc>
                <a:spcPts val="7213"/>
              </a:lnSpc>
            </a:pPr>
            <a:r>
              <a:rPr lang="en-US" sz="4400" b="1" dirty="0">
                <a:latin typeface="Roboto"/>
                <a:ea typeface="Roboto"/>
                <a:cs typeface="Roboto"/>
                <a:sym typeface="Roboto"/>
              </a:rPr>
              <a:t>Universal Decline in Product Category Sales Signals Market Softening</a:t>
            </a:r>
          </a:p>
        </p:txBody>
      </p:sp>
      <p:sp>
        <p:nvSpPr>
          <p:cNvPr id="6" name="TextBox 14">
            <a:extLst>
              <a:ext uri="{FF2B5EF4-FFF2-40B4-BE49-F238E27FC236}">
                <a16:creationId xmlns:a16="http://schemas.microsoft.com/office/drawing/2014/main" id="{4CC56289-1015-304C-7511-F9811EA134BC}"/>
              </a:ext>
            </a:extLst>
          </p:cNvPr>
          <p:cNvSpPr txBox="1"/>
          <p:nvPr/>
        </p:nvSpPr>
        <p:spPr>
          <a:xfrm>
            <a:off x="11015663" y="3009902"/>
            <a:ext cx="6248400" cy="4592283"/>
          </a:xfrm>
          <a:prstGeom prst="rect">
            <a:avLst/>
          </a:prstGeom>
        </p:spPr>
        <p:txBody>
          <a:bodyPr wrap="square" lIns="0" tIns="0" rIns="0" bIns="0" rtlCol="0" anchor="t">
            <a:spAutoFit/>
          </a:bodyPr>
          <a:lstStyle/>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Computers product experienced total revenue drops from $7.1M in </a:t>
            </a:r>
            <a:r>
              <a:rPr lang="en-US" sz="2000" dirty="0">
                <a:solidFill>
                  <a:schemeClr val="tx1">
                    <a:lumMod val="50000"/>
                    <a:lumOff val="50000"/>
                  </a:schemeClr>
                </a:solidFill>
                <a:latin typeface="Poppins"/>
                <a:ea typeface="Poppins"/>
                <a:cs typeface="Poppins"/>
                <a:sym typeface="Poppins"/>
              </a:rPr>
              <a:t>2023</a:t>
            </a:r>
            <a:r>
              <a:rPr lang="en-US" sz="2000" dirty="0">
                <a:solidFill>
                  <a:srgbClr val="000000"/>
                </a:solidFill>
                <a:latin typeface="Poppins"/>
                <a:ea typeface="Poppins"/>
                <a:cs typeface="Poppins"/>
                <a:sym typeface="Poppins"/>
              </a:rPr>
              <a:t> to only $3.6M in </a:t>
            </a:r>
            <a:r>
              <a:rPr lang="en-US" sz="2000" dirty="0">
                <a:solidFill>
                  <a:schemeClr val="tx2"/>
                </a:solidFill>
                <a:latin typeface="Poppins"/>
                <a:ea typeface="Poppins"/>
                <a:cs typeface="Poppins"/>
                <a:sym typeface="Poppins"/>
              </a:rPr>
              <a:t>2024</a:t>
            </a:r>
            <a:r>
              <a:rPr lang="en-US" sz="2000" dirty="0">
                <a:solidFill>
                  <a:srgbClr val="000000"/>
                </a:solidFill>
                <a:latin typeface="Poppins"/>
                <a:ea typeface="Poppins"/>
                <a:cs typeface="Poppins"/>
                <a:sym typeface="Poppins"/>
              </a:rPr>
              <a:t>, about -49% sales drops.</a:t>
            </a:r>
          </a:p>
          <a:p>
            <a:pPr algn="just">
              <a:lnSpc>
                <a:spcPts val="2976"/>
              </a:lnSpc>
              <a:spcBef>
                <a:spcPct val="0"/>
              </a:spcBef>
            </a:pPr>
            <a:endParaRPr lang="en-US" sz="2000" dirty="0">
              <a:solidFill>
                <a:srgbClr val="000000"/>
              </a:solidFill>
              <a:latin typeface="Poppins"/>
              <a:ea typeface="Poppins"/>
              <a:cs typeface="Poppins"/>
              <a:sym typeface="Poppins"/>
            </a:endParaRP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Other categories also saw significant decreases in </a:t>
            </a:r>
            <a:r>
              <a:rPr lang="en-US" sz="2000" dirty="0">
                <a:solidFill>
                  <a:schemeClr val="tx2"/>
                </a:solidFill>
                <a:latin typeface="Poppins"/>
                <a:ea typeface="Poppins"/>
                <a:cs typeface="Poppins"/>
                <a:sym typeface="Poppins"/>
              </a:rPr>
              <a:t>2024</a:t>
            </a:r>
            <a:r>
              <a:rPr lang="en-US" sz="2000" dirty="0">
                <a:solidFill>
                  <a:srgbClr val="000000"/>
                </a:solidFill>
                <a:latin typeface="Poppins"/>
                <a:ea typeface="Poppins"/>
                <a:cs typeface="Poppins"/>
                <a:sym typeface="Poppins"/>
              </a:rPr>
              <a:t>, with total revenue falling between -45% to -59% YoY.</a:t>
            </a:r>
          </a:p>
          <a:p>
            <a:pPr algn="just">
              <a:lnSpc>
                <a:spcPts val="2976"/>
              </a:lnSpc>
              <a:spcBef>
                <a:spcPct val="0"/>
              </a:spcBef>
            </a:pPr>
            <a:endParaRPr lang="en-US" sz="2000" dirty="0">
              <a:solidFill>
                <a:srgbClr val="000000"/>
              </a:solidFill>
              <a:latin typeface="Poppins"/>
              <a:ea typeface="Poppins"/>
              <a:cs typeface="Poppins"/>
              <a:sym typeface="Poppins"/>
            </a:endParaRP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This suggest shift demands or customer retention</a:t>
            </a:r>
          </a:p>
          <a:p>
            <a:pPr marL="1257331" lvl="2" indent="-342909" algn="just">
              <a:lnSpc>
                <a:spcPts val="2976"/>
              </a:lnSpc>
              <a:spcBef>
                <a:spcPct val="0"/>
              </a:spcBef>
              <a:buFont typeface="Wingdings" panose="05000000000000000000" pitchFamily="2" charset="2"/>
              <a:buChar char="ü"/>
            </a:pPr>
            <a:r>
              <a:rPr lang="en-US" sz="2000" dirty="0">
                <a:solidFill>
                  <a:srgbClr val="000000"/>
                </a:solidFill>
                <a:latin typeface="Poppins"/>
                <a:ea typeface="Poppins"/>
                <a:cs typeface="Poppins"/>
                <a:sym typeface="Poppins"/>
              </a:rPr>
              <a:t>Tech Nova need to re-strategize through marketing and promotions. </a:t>
            </a:r>
          </a:p>
        </p:txBody>
      </p:sp>
      <p:pic>
        <p:nvPicPr>
          <p:cNvPr id="12" name="Picture 11">
            <a:extLst>
              <a:ext uri="{FF2B5EF4-FFF2-40B4-BE49-F238E27FC236}">
                <a16:creationId xmlns:a16="http://schemas.microsoft.com/office/drawing/2014/main" id="{895B2F76-F194-AD7F-A6EA-BDBF5A7A1A45}"/>
              </a:ext>
            </a:extLst>
          </p:cNvPr>
          <p:cNvPicPr>
            <a:picLocks noChangeAspect="1"/>
          </p:cNvPicPr>
          <p:nvPr/>
        </p:nvPicPr>
        <p:blipFill>
          <a:blip r:embed="rId3"/>
          <a:stretch>
            <a:fillRect/>
          </a:stretch>
        </p:blipFill>
        <p:spPr>
          <a:xfrm>
            <a:off x="762003" y="3009900"/>
            <a:ext cx="9829801" cy="6324601"/>
          </a:xfrm>
          <a:prstGeom prst="rect">
            <a:avLst/>
          </a:prstGeom>
        </p:spPr>
      </p:pic>
      <p:cxnSp>
        <p:nvCxnSpPr>
          <p:cNvPr id="3" name="Straight Arrow Connector 2">
            <a:extLst>
              <a:ext uri="{FF2B5EF4-FFF2-40B4-BE49-F238E27FC236}">
                <a16:creationId xmlns:a16="http://schemas.microsoft.com/office/drawing/2014/main" id="{E4B3FC24-326D-DE71-4E72-D8FF831F5D61}"/>
              </a:ext>
            </a:extLst>
          </p:cNvPr>
          <p:cNvCxnSpPr>
            <a:cxnSpLocks/>
          </p:cNvCxnSpPr>
          <p:nvPr/>
        </p:nvCxnSpPr>
        <p:spPr>
          <a:xfrm flipH="1">
            <a:off x="2057400" y="5143500"/>
            <a:ext cx="381001" cy="838201"/>
          </a:xfrm>
          <a:prstGeom prst="straightConnector1">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5" name="Straight Arrow Connector 4">
            <a:extLst>
              <a:ext uri="{FF2B5EF4-FFF2-40B4-BE49-F238E27FC236}">
                <a16:creationId xmlns:a16="http://schemas.microsoft.com/office/drawing/2014/main" id="{71116C7D-ABA2-72F0-7119-36B7F44B25C4}"/>
              </a:ext>
            </a:extLst>
          </p:cNvPr>
          <p:cNvCxnSpPr>
            <a:cxnSpLocks/>
          </p:cNvCxnSpPr>
          <p:nvPr/>
        </p:nvCxnSpPr>
        <p:spPr>
          <a:xfrm flipH="1">
            <a:off x="4357688" y="7159272"/>
            <a:ext cx="381001" cy="838201"/>
          </a:xfrm>
          <a:prstGeom prst="straightConnector1">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7" name="Straight Arrow Connector 6">
            <a:extLst>
              <a:ext uri="{FF2B5EF4-FFF2-40B4-BE49-F238E27FC236}">
                <a16:creationId xmlns:a16="http://schemas.microsoft.com/office/drawing/2014/main" id="{12B7F7EE-A0F9-B383-B26A-B9EBC9F0DC22}"/>
              </a:ext>
            </a:extLst>
          </p:cNvPr>
          <p:cNvCxnSpPr>
            <a:cxnSpLocks/>
          </p:cNvCxnSpPr>
          <p:nvPr/>
        </p:nvCxnSpPr>
        <p:spPr>
          <a:xfrm flipH="1">
            <a:off x="3124200" y="7183084"/>
            <a:ext cx="381001" cy="838201"/>
          </a:xfrm>
          <a:prstGeom prst="straightConnector1">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8" name="Straight Arrow Connector 7">
            <a:extLst>
              <a:ext uri="{FF2B5EF4-FFF2-40B4-BE49-F238E27FC236}">
                <a16:creationId xmlns:a16="http://schemas.microsoft.com/office/drawing/2014/main" id="{BA32A937-C616-F88D-9199-3CC1D2D2241E}"/>
              </a:ext>
            </a:extLst>
          </p:cNvPr>
          <p:cNvCxnSpPr>
            <a:cxnSpLocks/>
          </p:cNvCxnSpPr>
          <p:nvPr/>
        </p:nvCxnSpPr>
        <p:spPr>
          <a:xfrm flipH="1">
            <a:off x="5524500" y="7183084"/>
            <a:ext cx="381001" cy="838201"/>
          </a:xfrm>
          <a:prstGeom prst="straightConnector1">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9" name="Straight Arrow Connector 8">
            <a:extLst>
              <a:ext uri="{FF2B5EF4-FFF2-40B4-BE49-F238E27FC236}">
                <a16:creationId xmlns:a16="http://schemas.microsoft.com/office/drawing/2014/main" id="{63718312-071F-EEBB-CF7B-8B859941B322}"/>
              </a:ext>
            </a:extLst>
          </p:cNvPr>
          <p:cNvCxnSpPr>
            <a:cxnSpLocks/>
          </p:cNvCxnSpPr>
          <p:nvPr/>
        </p:nvCxnSpPr>
        <p:spPr>
          <a:xfrm flipH="1">
            <a:off x="6781800" y="7415212"/>
            <a:ext cx="381001" cy="838201"/>
          </a:xfrm>
          <a:prstGeom prst="straightConnector1">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10" name="Straight Arrow Connector 9">
            <a:extLst>
              <a:ext uri="{FF2B5EF4-FFF2-40B4-BE49-F238E27FC236}">
                <a16:creationId xmlns:a16="http://schemas.microsoft.com/office/drawing/2014/main" id="{9713658C-B796-4091-AAB3-714BC9523E55}"/>
              </a:ext>
            </a:extLst>
          </p:cNvPr>
          <p:cNvCxnSpPr>
            <a:cxnSpLocks/>
          </p:cNvCxnSpPr>
          <p:nvPr/>
        </p:nvCxnSpPr>
        <p:spPr>
          <a:xfrm flipH="1">
            <a:off x="7924801" y="7777162"/>
            <a:ext cx="381001" cy="838201"/>
          </a:xfrm>
          <a:prstGeom prst="straightConnector1">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11" name="Straight Arrow Connector 10">
            <a:extLst>
              <a:ext uri="{FF2B5EF4-FFF2-40B4-BE49-F238E27FC236}">
                <a16:creationId xmlns:a16="http://schemas.microsoft.com/office/drawing/2014/main" id="{C81056C5-7FDA-B88F-1887-D303D071B11C}"/>
              </a:ext>
            </a:extLst>
          </p:cNvPr>
          <p:cNvCxnSpPr>
            <a:cxnSpLocks/>
          </p:cNvCxnSpPr>
          <p:nvPr/>
        </p:nvCxnSpPr>
        <p:spPr>
          <a:xfrm flipH="1">
            <a:off x="9205914" y="7743824"/>
            <a:ext cx="381001" cy="838201"/>
          </a:xfrm>
          <a:prstGeom prst="straightConnector1">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4853EA7E-61BE-F93F-F5C2-9929C2E33492}"/>
              </a:ext>
            </a:extLst>
          </p:cNvPr>
          <p:cNvCxnSpPr>
            <a:cxnSpLocks/>
          </p:cNvCxnSpPr>
          <p:nvPr/>
        </p:nvCxnSpPr>
        <p:spPr>
          <a:xfrm flipH="1">
            <a:off x="10296526" y="8253413"/>
            <a:ext cx="142873" cy="596548"/>
          </a:xfrm>
          <a:prstGeom prst="straightConnector1">
            <a:avLst/>
          </a:prstGeom>
          <a:ln>
            <a:headEnd type="none" w="med" len="med"/>
            <a:tailEnd type="arrow" w="med" len="med"/>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801426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04C17-229D-642E-69E9-B638A6DD47DA}"/>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8BADF9F-7BAD-1B42-8082-B51ACDC7F545}"/>
              </a:ext>
            </a:extLst>
          </p:cNvPr>
          <p:cNvSpPr txBox="1"/>
          <p:nvPr/>
        </p:nvSpPr>
        <p:spPr>
          <a:xfrm>
            <a:off x="38100" y="1277058"/>
            <a:ext cx="9115426" cy="3866443"/>
          </a:xfrm>
          <a:prstGeom prst="rect">
            <a:avLst/>
          </a:prstGeom>
        </p:spPr>
        <p:txBody>
          <a:bodyPr wrap="square" lIns="0" tIns="0" rIns="0" bIns="0" rtlCol="0" anchor="t">
            <a:spAutoFit/>
          </a:bodyPr>
          <a:lstStyle/>
          <a:p>
            <a:pPr algn="ctr">
              <a:lnSpc>
                <a:spcPts val="7431"/>
              </a:lnSpc>
            </a:pPr>
            <a:endParaRPr lang="en-US" sz="8000" dirty="0">
              <a:solidFill>
                <a:srgbClr val="004AAD"/>
              </a:solidFill>
              <a:latin typeface="League Spartan"/>
              <a:ea typeface="League Spartan"/>
              <a:cs typeface="League Spartan"/>
              <a:sym typeface="League Spartan"/>
            </a:endParaRPr>
          </a:p>
          <a:p>
            <a:pPr algn="ctr">
              <a:lnSpc>
                <a:spcPts val="7431"/>
              </a:lnSpc>
            </a:pPr>
            <a:r>
              <a:rPr lang="en-US" sz="8000" dirty="0">
                <a:solidFill>
                  <a:srgbClr val="004AAD"/>
                </a:solidFill>
                <a:latin typeface="League Spartan"/>
                <a:ea typeface="League Spartan"/>
                <a:cs typeface="League Spartan"/>
                <a:sym typeface="League Spartan"/>
              </a:rPr>
              <a:t>Country </a:t>
            </a:r>
          </a:p>
          <a:p>
            <a:pPr algn="ctr">
              <a:lnSpc>
                <a:spcPts val="7431"/>
              </a:lnSpc>
            </a:pPr>
            <a:r>
              <a:rPr lang="en-US" sz="8000" dirty="0">
                <a:solidFill>
                  <a:srgbClr val="004AAD"/>
                </a:solidFill>
                <a:latin typeface="League Spartan"/>
                <a:ea typeface="League Spartan"/>
                <a:cs typeface="League Spartan"/>
                <a:sym typeface="League Spartan"/>
              </a:rPr>
              <a:t>Sales </a:t>
            </a:r>
          </a:p>
          <a:p>
            <a:pPr algn="ctr">
              <a:lnSpc>
                <a:spcPts val="7431"/>
              </a:lnSpc>
            </a:pPr>
            <a:r>
              <a:rPr lang="en-US" sz="8000" dirty="0">
                <a:solidFill>
                  <a:srgbClr val="004AAD"/>
                </a:solidFill>
                <a:latin typeface="League Spartan"/>
                <a:ea typeface="League Spartan"/>
                <a:cs typeface="League Spartan"/>
                <a:sym typeface="League Spartan"/>
              </a:rPr>
              <a:t>Analysis</a:t>
            </a:r>
          </a:p>
        </p:txBody>
      </p:sp>
      <p:pic>
        <p:nvPicPr>
          <p:cNvPr id="6" name="Picture 5">
            <a:extLst>
              <a:ext uri="{FF2B5EF4-FFF2-40B4-BE49-F238E27FC236}">
                <a16:creationId xmlns:a16="http://schemas.microsoft.com/office/drawing/2014/main" id="{70166B40-3DEA-A4F4-9588-3343247999BF}"/>
              </a:ext>
            </a:extLst>
          </p:cNvPr>
          <p:cNvPicPr>
            <a:picLocks noChangeAspect="1"/>
          </p:cNvPicPr>
          <p:nvPr/>
        </p:nvPicPr>
        <p:blipFill>
          <a:blip r:embed="rId2">
            <a:extLst>
              <a:ext uri="{28A0092B-C50C-407E-A947-70E740481C1C}">
                <a14:useLocalDpi xmlns:a14="http://schemas.microsoft.com/office/drawing/2010/main" val="0"/>
              </a:ext>
            </a:extLst>
          </a:blip>
          <a:srcRect l="12632" t="18467" r="17895" b="28304"/>
          <a:stretch>
            <a:fillRect/>
          </a:stretch>
        </p:blipFill>
        <p:spPr>
          <a:xfrm>
            <a:off x="2057401" y="4381503"/>
            <a:ext cx="4780292" cy="3662530"/>
          </a:xfrm>
          <a:prstGeom prst="rect">
            <a:avLst/>
          </a:prstGeom>
        </p:spPr>
      </p:pic>
      <p:pic>
        <p:nvPicPr>
          <p:cNvPr id="7" name="Picture 5">
            <a:extLst>
              <a:ext uri="{FF2B5EF4-FFF2-40B4-BE49-F238E27FC236}">
                <a16:creationId xmlns:a16="http://schemas.microsoft.com/office/drawing/2014/main" id="{C3E20A82-0B41-1491-F777-7175D2865422}"/>
              </a:ext>
            </a:extLst>
          </p:cNvPr>
          <p:cNvPicPr>
            <a:picLocks noChangeAspect="1"/>
          </p:cNvPicPr>
          <p:nvPr/>
        </p:nvPicPr>
        <p:blipFill rotWithShape="1">
          <a:blip r:embed="rId3"/>
          <a:srcRect r="27496"/>
          <a:stretch/>
        </p:blipFill>
        <p:spPr>
          <a:xfrm>
            <a:off x="9115426" y="1866903"/>
            <a:ext cx="7886868" cy="7233813"/>
          </a:xfrm>
          <a:prstGeom prst="rect">
            <a:avLst/>
          </a:prstGeom>
        </p:spPr>
      </p:pic>
    </p:spTree>
    <p:extLst>
      <p:ext uri="{BB962C8B-B14F-4D97-AF65-F5344CB8AC3E}">
        <p14:creationId xmlns:p14="http://schemas.microsoft.com/office/powerpoint/2010/main" val="30509425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80CD9-FAC5-553A-0B59-272B07C29805}"/>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E79FADA3-F58C-B529-D964-1F3BCF123C48}"/>
              </a:ext>
            </a:extLst>
          </p:cNvPr>
          <p:cNvSpPr txBox="1"/>
          <p:nvPr/>
        </p:nvSpPr>
        <p:spPr>
          <a:xfrm>
            <a:off x="928687" y="266700"/>
            <a:ext cx="16421100" cy="1756891"/>
          </a:xfrm>
          <a:prstGeom prst="rect">
            <a:avLst/>
          </a:prstGeom>
        </p:spPr>
        <p:txBody>
          <a:bodyPr wrap="square" lIns="0" tIns="0" rIns="0" bIns="0" rtlCol="0" anchor="t">
            <a:spAutoFit/>
          </a:bodyPr>
          <a:lstStyle/>
          <a:p>
            <a:pPr algn="just">
              <a:lnSpc>
                <a:spcPts val="7213"/>
              </a:lnSpc>
            </a:pPr>
            <a:r>
              <a:rPr lang="en-US" sz="4400" b="1" dirty="0">
                <a:latin typeface="Roboto"/>
                <a:ea typeface="Roboto"/>
                <a:cs typeface="Roboto"/>
                <a:sym typeface="Roboto"/>
              </a:rPr>
              <a:t>United States Contributes the largest share of sales revenue for Tech Nova.</a:t>
            </a:r>
          </a:p>
        </p:txBody>
      </p:sp>
      <p:sp>
        <p:nvSpPr>
          <p:cNvPr id="6" name="TextBox 14">
            <a:extLst>
              <a:ext uri="{FF2B5EF4-FFF2-40B4-BE49-F238E27FC236}">
                <a16:creationId xmlns:a16="http://schemas.microsoft.com/office/drawing/2014/main" id="{EE0EF052-F48D-71DC-BBAE-F418246B5F53}"/>
              </a:ext>
            </a:extLst>
          </p:cNvPr>
          <p:cNvSpPr txBox="1"/>
          <p:nvPr/>
        </p:nvSpPr>
        <p:spPr>
          <a:xfrm>
            <a:off x="11872912" y="2654998"/>
            <a:ext cx="5486400" cy="5746445"/>
          </a:xfrm>
          <a:prstGeom prst="rect">
            <a:avLst/>
          </a:prstGeom>
        </p:spPr>
        <p:txBody>
          <a:bodyPr wrap="square" lIns="0" tIns="0" rIns="0" bIns="0" rtlCol="0" anchor="t">
            <a:spAutoFit/>
          </a:bodyPr>
          <a:lstStyle/>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Unites States generating nearly $30M in grand total sales from 2020 to 2024..</a:t>
            </a:r>
          </a:p>
          <a:p>
            <a:pPr marL="800109" lvl="1" indent="-342909" algn="just">
              <a:lnSpc>
                <a:spcPts val="2976"/>
              </a:lnSpc>
              <a:spcBef>
                <a:spcPct val="0"/>
              </a:spcBef>
              <a:buFont typeface="Wingdings" panose="05000000000000000000" pitchFamily="2" charset="2"/>
              <a:buChar char="Ø"/>
            </a:pPr>
            <a:r>
              <a:rPr lang="en-US" sz="2000" dirty="0">
                <a:solidFill>
                  <a:srgbClr val="000000"/>
                </a:solidFill>
                <a:latin typeface="Poppins"/>
                <a:ea typeface="Poppins"/>
                <a:cs typeface="Poppins"/>
                <a:sym typeface="Poppins"/>
              </a:rPr>
              <a:t>Majority derived from computers product with total of $10M sales revenue.</a:t>
            </a:r>
          </a:p>
          <a:p>
            <a:pPr marL="800109" lvl="1" indent="-342909" algn="just">
              <a:lnSpc>
                <a:spcPts val="2976"/>
              </a:lnSpc>
              <a:spcBef>
                <a:spcPct val="0"/>
              </a:spcBef>
              <a:buFont typeface="Wingdings" panose="05000000000000000000" pitchFamily="2" charset="2"/>
              <a:buChar char="Ø"/>
            </a:pPr>
            <a:r>
              <a:rPr lang="en-US" sz="2000" dirty="0">
                <a:solidFill>
                  <a:srgbClr val="000000"/>
                </a:solidFill>
                <a:latin typeface="Poppins"/>
                <a:ea typeface="Poppins"/>
                <a:cs typeface="Poppins"/>
                <a:sym typeface="Poppins"/>
              </a:rPr>
              <a:t>The highest monthly sales recorded in Dec 2023 at $1.27M.</a:t>
            </a: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The United Kingdom is the second-largest contributor, consistently achieving more than $1M in sales each year</a:t>
            </a: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Sales from other countries remain minimal, contributing less than $1.5M annually.</a:t>
            </a:r>
          </a:p>
          <a:p>
            <a:pPr algn="just">
              <a:lnSpc>
                <a:spcPts val="2976"/>
              </a:lnSpc>
              <a:spcBef>
                <a:spcPct val="0"/>
              </a:spcBef>
            </a:pPr>
            <a:endParaRPr lang="en-US" sz="2000" dirty="0">
              <a:solidFill>
                <a:srgbClr val="000000"/>
              </a:solidFill>
              <a:latin typeface="Poppins"/>
              <a:ea typeface="Poppins"/>
              <a:cs typeface="Poppins"/>
              <a:sym typeface="Poppins"/>
            </a:endParaRPr>
          </a:p>
        </p:txBody>
      </p:sp>
      <p:pic>
        <p:nvPicPr>
          <p:cNvPr id="1026" name="Picture 2">
            <a:extLst>
              <a:ext uri="{FF2B5EF4-FFF2-40B4-BE49-F238E27FC236}">
                <a16:creationId xmlns:a16="http://schemas.microsoft.com/office/drawing/2014/main" id="{AAE3789C-2C09-4A6F-5EF9-7DA12FC0AB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476500"/>
            <a:ext cx="11110912" cy="7010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38065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8F1ED-259F-FC73-D486-F4A5C71C6B7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D1B2695D-5DB1-CCB4-167A-8D406C27ACDC}"/>
              </a:ext>
            </a:extLst>
          </p:cNvPr>
          <p:cNvSpPr txBox="1"/>
          <p:nvPr/>
        </p:nvSpPr>
        <p:spPr>
          <a:xfrm>
            <a:off x="304800" y="2781300"/>
            <a:ext cx="9639300" cy="1968488"/>
          </a:xfrm>
          <a:prstGeom prst="rect">
            <a:avLst/>
          </a:prstGeom>
        </p:spPr>
        <p:txBody>
          <a:bodyPr wrap="square" lIns="0" tIns="0" rIns="0" bIns="0" rtlCol="0" anchor="t">
            <a:spAutoFit/>
          </a:bodyPr>
          <a:lstStyle/>
          <a:p>
            <a:pPr algn="ctr">
              <a:lnSpc>
                <a:spcPts val="7431"/>
              </a:lnSpc>
            </a:pPr>
            <a:endParaRPr lang="en-US" sz="8000" dirty="0">
              <a:solidFill>
                <a:srgbClr val="004AAD"/>
              </a:solidFill>
              <a:latin typeface="League Spartan"/>
              <a:ea typeface="League Spartan"/>
              <a:cs typeface="League Spartan"/>
              <a:sym typeface="League Spartan"/>
            </a:endParaRPr>
          </a:p>
          <a:p>
            <a:pPr algn="ctr">
              <a:lnSpc>
                <a:spcPts val="7431"/>
              </a:lnSpc>
            </a:pPr>
            <a:r>
              <a:rPr lang="en-US" sz="8000" dirty="0">
                <a:solidFill>
                  <a:srgbClr val="004AAD"/>
                </a:solidFill>
                <a:latin typeface="League Spartan"/>
                <a:ea typeface="League Spartan"/>
                <a:cs typeface="League Spartan"/>
                <a:sym typeface="League Spartan"/>
              </a:rPr>
              <a:t>Recommendation</a:t>
            </a:r>
          </a:p>
        </p:txBody>
      </p:sp>
      <p:pic>
        <p:nvPicPr>
          <p:cNvPr id="6" name="Picture 5">
            <a:extLst>
              <a:ext uri="{FF2B5EF4-FFF2-40B4-BE49-F238E27FC236}">
                <a16:creationId xmlns:a16="http://schemas.microsoft.com/office/drawing/2014/main" id="{64C734C0-08AD-29EB-E20F-EE67DDDFA271}"/>
              </a:ext>
            </a:extLst>
          </p:cNvPr>
          <p:cNvPicPr>
            <a:picLocks noChangeAspect="1"/>
          </p:cNvPicPr>
          <p:nvPr/>
        </p:nvPicPr>
        <p:blipFill>
          <a:blip r:embed="rId2">
            <a:extLst>
              <a:ext uri="{28A0092B-C50C-407E-A947-70E740481C1C}">
                <a14:useLocalDpi xmlns:a14="http://schemas.microsoft.com/office/drawing/2010/main" val="0"/>
              </a:ext>
            </a:extLst>
          </a:blip>
          <a:srcRect l="12632" t="18467" r="17895" b="28304"/>
          <a:stretch>
            <a:fillRect/>
          </a:stretch>
        </p:blipFill>
        <p:spPr>
          <a:xfrm>
            <a:off x="2057401" y="4381503"/>
            <a:ext cx="4780292" cy="3662530"/>
          </a:xfrm>
          <a:prstGeom prst="rect">
            <a:avLst/>
          </a:prstGeom>
        </p:spPr>
      </p:pic>
      <p:pic>
        <p:nvPicPr>
          <p:cNvPr id="7" name="Picture 5">
            <a:extLst>
              <a:ext uri="{FF2B5EF4-FFF2-40B4-BE49-F238E27FC236}">
                <a16:creationId xmlns:a16="http://schemas.microsoft.com/office/drawing/2014/main" id="{0199D1FD-3B5C-CC49-7A83-59163B063FB3}"/>
              </a:ext>
            </a:extLst>
          </p:cNvPr>
          <p:cNvPicPr>
            <a:picLocks noChangeAspect="1"/>
          </p:cNvPicPr>
          <p:nvPr/>
        </p:nvPicPr>
        <p:blipFill rotWithShape="1">
          <a:blip r:embed="rId3"/>
          <a:srcRect r="27496"/>
          <a:stretch/>
        </p:blipFill>
        <p:spPr>
          <a:xfrm>
            <a:off x="10058400" y="1866903"/>
            <a:ext cx="6943894" cy="7233813"/>
          </a:xfrm>
          <a:prstGeom prst="rect">
            <a:avLst/>
          </a:prstGeom>
        </p:spPr>
      </p:pic>
    </p:spTree>
    <p:extLst>
      <p:ext uri="{BB962C8B-B14F-4D97-AF65-F5344CB8AC3E}">
        <p14:creationId xmlns:p14="http://schemas.microsoft.com/office/powerpoint/2010/main" val="177759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215B7-ACC5-6E27-B813-98F1B6BD4EA2}"/>
            </a:ext>
          </a:extLst>
        </p:cNvPr>
        <p:cNvGrpSpPr/>
        <p:nvPr/>
      </p:nvGrpSpPr>
      <p:grpSpPr>
        <a:xfrm>
          <a:off x="0" y="0"/>
          <a:ext cx="0" cy="0"/>
          <a:chOff x="0" y="0"/>
          <a:chExt cx="0" cy="0"/>
        </a:xfrm>
      </p:grpSpPr>
      <p:sp>
        <p:nvSpPr>
          <p:cNvPr id="13" name="TextBox 13">
            <a:extLst>
              <a:ext uri="{FF2B5EF4-FFF2-40B4-BE49-F238E27FC236}">
                <a16:creationId xmlns:a16="http://schemas.microsoft.com/office/drawing/2014/main" id="{8174BED1-7E06-59A8-91BF-AD6C1550D63B}"/>
              </a:ext>
            </a:extLst>
          </p:cNvPr>
          <p:cNvSpPr txBox="1"/>
          <p:nvPr/>
        </p:nvSpPr>
        <p:spPr>
          <a:xfrm>
            <a:off x="928687" y="266700"/>
            <a:ext cx="16421100" cy="833562"/>
          </a:xfrm>
          <a:prstGeom prst="rect">
            <a:avLst/>
          </a:prstGeom>
        </p:spPr>
        <p:txBody>
          <a:bodyPr wrap="square" lIns="0" tIns="0" rIns="0" bIns="0" rtlCol="0" anchor="t">
            <a:spAutoFit/>
          </a:bodyPr>
          <a:lstStyle/>
          <a:p>
            <a:pPr algn="just">
              <a:lnSpc>
                <a:spcPts val="7213"/>
              </a:lnSpc>
            </a:pPr>
            <a:r>
              <a:rPr lang="en-US" sz="4400" b="1" dirty="0">
                <a:latin typeface="Roboto"/>
                <a:ea typeface="Roboto"/>
                <a:cs typeface="Roboto"/>
                <a:sym typeface="Roboto"/>
              </a:rPr>
              <a:t>Recommendations</a:t>
            </a:r>
          </a:p>
        </p:txBody>
      </p:sp>
      <p:sp>
        <p:nvSpPr>
          <p:cNvPr id="6" name="TextBox 14">
            <a:extLst>
              <a:ext uri="{FF2B5EF4-FFF2-40B4-BE49-F238E27FC236}">
                <a16:creationId xmlns:a16="http://schemas.microsoft.com/office/drawing/2014/main" id="{DC077030-D459-F8E3-C347-D26FEF4991A6}"/>
              </a:ext>
            </a:extLst>
          </p:cNvPr>
          <p:cNvSpPr txBox="1"/>
          <p:nvPr/>
        </p:nvSpPr>
        <p:spPr>
          <a:xfrm>
            <a:off x="928687" y="2095500"/>
            <a:ext cx="16421100" cy="6515886"/>
          </a:xfrm>
          <a:prstGeom prst="rect">
            <a:avLst/>
          </a:prstGeom>
        </p:spPr>
        <p:txBody>
          <a:bodyPr wrap="square" lIns="0" tIns="0" rIns="0" bIns="0" rtlCol="0" anchor="t">
            <a:spAutoFit/>
          </a:bodyPr>
          <a:lstStyle/>
          <a:p>
            <a:pPr algn="just">
              <a:lnSpc>
                <a:spcPts val="2976"/>
              </a:lnSpc>
              <a:spcBef>
                <a:spcPct val="0"/>
              </a:spcBef>
            </a:pPr>
            <a:r>
              <a:rPr lang="en-US" sz="2000" dirty="0">
                <a:solidFill>
                  <a:srgbClr val="000000"/>
                </a:solidFill>
                <a:latin typeface="Poppins"/>
                <a:ea typeface="Poppins"/>
                <a:cs typeface="Poppins"/>
                <a:sym typeface="Poppins"/>
              </a:rPr>
              <a:t>Sales</a:t>
            </a:r>
          </a:p>
          <a:p>
            <a:pPr marL="342909" indent="-342909"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Focus on “volume surge” campaign to increase sales order volume.</a:t>
            </a:r>
          </a:p>
          <a:p>
            <a:pPr marL="800109" lvl="1" indent="-342909" algn="just">
              <a:lnSpc>
                <a:spcPts val="2976"/>
              </a:lnSpc>
              <a:spcBef>
                <a:spcPct val="0"/>
              </a:spcBef>
              <a:buFont typeface="Wingdings" panose="05000000000000000000" pitchFamily="2" charset="2"/>
              <a:buChar char="Ø"/>
            </a:pPr>
            <a:r>
              <a:rPr lang="en-US" sz="2000" dirty="0">
                <a:solidFill>
                  <a:srgbClr val="000000"/>
                </a:solidFill>
                <a:latin typeface="Poppins"/>
                <a:ea typeface="Poppins"/>
                <a:cs typeface="Poppins"/>
                <a:sym typeface="Poppins"/>
              </a:rPr>
              <a:t>Offer tiered discount campaign like “Buy 2, free 1” or “50% off for second item”.</a:t>
            </a:r>
          </a:p>
          <a:p>
            <a:pPr marL="800109" lvl="1" indent="-342909" algn="just">
              <a:lnSpc>
                <a:spcPts val="2976"/>
              </a:lnSpc>
              <a:spcBef>
                <a:spcPct val="0"/>
              </a:spcBef>
              <a:buFont typeface="Wingdings" panose="05000000000000000000" pitchFamily="2" charset="2"/>
              <a:buChar char="Ø"/>
            </a:pPr>
            <a:r>
              <a:rPr lang="en-US" sz="2000" dirty="0">
                <a:solidFill>
                  <a:srgbClr val="000000"/>
                </a:solidFill>
                <a:latin typeface="Poppins"/>
                <a:ea typeface="Poppins"/>
                <a:cs typeface="Poppins"/>
                <a:sym typeface="Poppins"/>
              </a:rPr>
              <a:t>Offer loyalty programs to rewarding repeated customer.</a:t>
            </a:r>
          </a:p>
          <a:p>
            <a:pPr marL="342900" indent="-342900"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Win back the lost customer after the pandemic boom by offering new marketing promotion or extra benefits for returning customer.</a:t>
            </a:r>
          </a:p>
          <a:p>
            <a:pPr algn="just">
              <a:lnSpc>
                <a:spcPts val="2976"/>
              </a:lnSpc>
              <a:spcBef>
                <a:spcPct val="0"/>
              </a:spcBef>
            </a:pPr>
            <a:endParaRPr lang="en-US" sz="2000" dirty="0">
              <a:solidFill>
                <a:srgbClr val="000000"/>
              </a:solidFill>
              <a:latin typeface="Poppins"/>
              <a:ea typeface="Poppins"/>
              <a:cs typeface="Poppins"/>
              <a:sym typeface="Poppins"/>
            </a:endParaRPr>
          </a:p>
          <a:p>
            <a:pPr algn="just">
              <a:lnSpc>
                <a:spcPts val="2976"/>
              </a:lnSpc>
              <a:spcBef>
                <a:spcPct val="0"/>
              </a:spcBef>
            </a:pPr>
            <a:r>
              <a:rPr lang="en-US" sz="2000" dirty="0">
                <a:solidFill>
                  <a:srgbClr val="000000"/>
                </a:solidFill>
                <a:latin typeface="Poppins"/>
                <a:ea typeface="Poppins"/>
                <a:cs typeface="Poppins"/>
                <a:sym typeface="Poppins"/>
              </a:rPr>
              <a:t>Product</a:t>
            </a:r>
          </a:p>
          <a:p>
            <a:pPr marL="342900" indent="-342900"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Focus on marketing the top product category.</a:t>
            </a:r>
          </a:p>
          <a:p>
            <a:pPr marL="342900" indent="-342900"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enhance promotions for high AOV items such as Home Appliances and TV &amp; Video.</a:t>
            </a:r>
          </a:p>
          <a:p>
            <a:pPr marL="342900" indent="-342900"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Offer trade-in programs for high AOV products to boost it order volume.</a:t>
            </a:r>
          </a:p>
          <a:p>
            <a:pPr marL="342900" indent="-342900" algn="just">
              <a:lnSpc>
                <a:spcPts val="2976"/>
              </a:lnSpc>
              <a:spcBef>
                <a:spcPct val="0"/>
              </a:spcBef>
              <a:buFont typeface="Wingdings" panose="05000000000000000000" pitchFamily="2" charset="2"/>
              <a:buChar char="q"/>
            </a:pPr>
            <a:endParaRPr lang="en-US" sz="2000" dirty="0">
              <a:solidFill>
                <a:srgbClr val="000000"/>
              </a:solidFill>
              <a:latin typeface="Poppins"/>
              <a:ea typeface="Poppins"/>
              <a:cs typeface="Poppins"/>
              <a:sym typeface="Poppins"/>
            </a:endParaRPr>
          </a:p>
          <a:p>
            <a:pPr algn="just">
              <a:lnSpc>
                <a:spcPts val="2976"/>
              </a:lnSpc>
              <a:spcBef>
                <a:spcPct val="0"/>
              </a:spcBef>
            </a:pPr>
            <a:r>
              <a:rPr lang="en-US" sz="2000" dirty="0">
                <a:solidFill>
                  <a:srgbClr val="000000"/>
                </a:solidFill>
                <a:latin typeface="Poppins"/>
                <a:ea typeface="Poppins"/>
                <a:cs typeface="Poppins"/>
                <a:sym typeface="Poppins"/>
              </a:rPr>
              <a:t>Country</a:t>
            </a:r>
          </a:p>
          <a:p>
            <a:pPr marL="342900" indent="-342900"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Strengthen the U.S. market share by consistently running targeted promotions in this region.</a:t>
            </a:r>
          </a:p>
          <a:p>
            <a:pPr marL="342900" indent="-342900" algn="just">
              <a:lnSpc>
                <a:spcPts val="2976"/>
              </a:lnSpc>
              <a:spcBef>
                <a:spcPct val="0"/>
              </a:spcBef>
              <a:buFont typeface="Wingdings" panose="05000000000000000000" pitchFamily="2" charset="2"/>
              <a:buChar char="q"/>
            </a:pPr>
            <a:r>
              <a:rPr lang="en-US" sz="2000" dirty="0">
                <a:solidFill>
                  <a:srgbClr val="000000"/>
                </a:solidFill>
                <a:latin typeface="Poppins"/>
                <a:ea typeface="Poppins"/>
                <a:cs typeface="Poppins"/>
                <a:sym typeface="Poppins"/>
              </a:rPr>
              <a:t>Conduct market research to identify the root causes of underperformance in other countries compared to the U.S</a:t>
            </a:r>
          </a:p>
          <a:p>
            <a:pPr lvl="1" algn="just">
              <a:lnSpc>
                <a:spcPts val="2976"/>
              </a:lnSpc>
              <a:spcBef>
                <a:spcPct val="0"/>
              </a:spcBef>
            </a:pPr>
            <a:endParaRPr lang="en-US" sz="2000" dirty="0">
              <a:solidFill>
                <a:srgbClr val="000000"/>
              </a:solidFill>
              <a:latin typeface="Poppins"/>
              <a:ea typeface="Poppins"/>
              <a:cs typeface="Poppins"/>
              <a:sym typeface="Poppins"/>
            </a:endParaRPr>
          </a:p>
          <a:p>
            <a:pPr algn="just">
              <a:lnSpc>
                <a:spcPts val="2976"/>
              </a:lnSpc>
              <a:spcBef>
                <a:spcPct val="0"/>
              </a:spcBef>
            </a:pPr>
            <a:endParaRPr lang="en-US" sz="2000" dirty="0">
              <a:solidFill>
                <a:srgbClr val="000000"/>
              </a:solidFill>
              <a:latin typeface="Poppins"/>
              <a:ea typeface="Poppins"/>
              <a:cs typeface="Poppins"/>
              <a:sym typeface="Poppins"/>
            </a:endParaRPr>
          </a:p>
        </p:txBody>
      </p:sp>
    </p:spTree>
    <p:extLst>
      <p:ext uri="{BB962C8B-B14F-4D97-AF65-F5344CB8AC3E}">
        <p14:creationId xmlns:p14="http://schemas.microsoft.com/office/powerpoint/2010/main" val="218330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3135</TotalTime>
  <Words>835</Words>
  <Application>Microsoft Office PowerPoint</Application>
  <PresentationFormat>Custom</PresentationFormat>
  <Paragraphs>86</Paragraphs>
  <Slides>14</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Wingdings</vt:lpstr>
      <vt:lpstr>Calibri</vt:lpstr>
      <vt:lpstr>Arial</vt:lpstr>
      <vt:lpstr>League Spartan</vt:lpstr>
      <vt:lpstr>Roboto</vt:lpstr>
      <vt:lpstr>Poppins</vt:lpstr>
      <vt:lpstr>Roboto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&amp; white company profile presentation</dc:title>
  <dc:creator>hairol fahmi</dc:creator>
  <cp:lastModifiedBy>Muhammad Hairolfahmi Abd Rani</cp:lastModifiedBy>
  <cp:revision>13</cp:revision>
  <dcterms:created xsi:type="dcterms:W3CDTF">2006-08-16T00:00:00Z</dcterms:created>
  <dcterms:modified xsi:type="dcterms:W3CDTF">2025-12-01T09:37:44Z</dcterms:modified>
  <dc:identifier>DAG5lIhhMyY</dc:identifier>
</cp:coreProperties>
</file>